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6" r:id="rId3"/>
    <p:sldId id="257" r:id="rId4"/>
    <p:sldId id="258" r:id="rId5"/>
    <p:sldId id="259" r:id="rId6"/>
    <p:sldId id="260" r:id="rId7"/>
    <p:sldId id="267" r:id="rId8"/>
    <p:sldId id="261" r:id="rId9"/>
    <p:sldId id="262" r:id="rId10"/>
    <p:sldId id="263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49563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Accroche en 20 s : 'On demystifie Git. D'abord les idees simples, ensuite la demo en direct. A la fin, vous n'aurez plus peur de perdre votre travail.'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 versioning sert pour le CODE mais aussi pour TOUT fichier texte (rapports, notes, config, LaTeX). Idee : garder l'historique de toutes les versions et pouvoir y revenir. Moins adapte au binaire (xlsx, images).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Trois images pour le meme concept : un commit, c'est un point de sauvegarde date, signe, avec un message. Timeline (voyage dans le temps), snapshot (photo), save game.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 message le plus important : tout ce qui est commite est en securite. On peut toujours revenir. Git oublie rarement. Seul le travail jamais commite est fragile -&gt; commite souvent.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git status = ta boussole. Lis-la AVANT et APRES chaque commande. Elle montre : nouveaux fichiers, modifies non prepares, prepares (staged), et ahead/behind vs remote. Gratuit, rassurant, evite 95% des erreurs.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Local = sur ta machine (depot complet, hors-ligne possible). Remote = le serveur partage (origin / Azure). Regle d'or en equipe : pull avant push.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La table de traduction : chaque commande en mots simples. fetch=telecharger, commit=sauvegarder (snapshot/save game), push=envoyer, pull=telecharger+synchroniser. Garde-la sous les yeux pendant la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0"/>
            <a:ext cx="12191695" cy="6400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7830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4400" b="1">
                <a:solidFill>
                  <a:srgbClr val="1F2937"/>
                </a:solidFill>
                <a:latin typeface="Segoe UI"/>
              </a:rPr>
              <a:t>⏳  Git — Versionner sans peur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971800"/>
            <a:ext cx="105156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2000" b="0">
                <a:solidFill>
                  <a:srgbClr val="64748B"/>
                </a:solidFill>
                <a:latin typeface="Segoe UI"/>
              </a:rPr>
              <a:t>Le versioning, simplement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118872" cy="71323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F2937"/>
                </a:solidFill>
                <a:latin typeface="Segoe UI"/>
              </a:rPr>
              <a:t>Le cauchemar des versions</a:t>
            </a:r>
          </a:p>
          <a:p>
            <a:r>
              <a:rPr sz="1350">
                <a:solidFill>
                  <a:srgbClr val="64748B"/>
                </a:solidFill>
                <a:latin typeface="Segoe UI"/>
              </a:rPr>
              <a:t>Sans versioning, on multiplie les copies…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6172200" cy="3931920"/>
          </a:xfrm>
          <a:prstGeom prst="roundRect">
            <a:avLst/>
          </a:prstGeom>
          <a:solidFill>
            <a:srgbClr val="F1F5F9"/>
          </a:solidFill>
          <a:ln w="22225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8408" y="1965960"/>
            <a:ext cx="5769864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1">
                <a:solidFill>
                  <a:srgbClr val="DC2626"/>
                </a:solidFill>
                <a:latin typeface="Segoe UI"/>
              </a:rPr>
              <a:t>😱  « C'est lequel le bon ?! »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rapport.docx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rapport_final.docx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rapport_final_final.docx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rapport_final_v2_corrigé.docx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rapport_final_dernière_version.docx</a:t>
            </a:r>
          </a:p>
          <a:p>
            <a:pPr algn="l">
              <a:spcAft>
                <a:spcPts val="500"/>
              </a:spcAft>
            </a:pPr>
            <a:r>
              <a:rPr sz="1300" b="0">
                <a:solidFill>
                  <a:srgbClr val="1F2937"/>
                </a:solidFill>
                <a:latin typeface="Consolas"/>
              </a:rPr>
              <a:t>rapport_final_la_vraie.docx</a:t>
            </a:r>
          </a:p>
          <a:p>
            <a:pPr algn="l">
              <a:spcAft>
                <a:spcPts val="600"/>
              </a:spcAft>
            </a:pPr>
            <a:r>
              <a:rPr sz="1300" b="1">
                <a:solidFill>
                  <a:srgbClr val="DC2626"/>
                </a:solidFill>
                <a:latin typeface="Consolas"/>
              </a:rPr>
              <a:t>rapport_final_NE_PAS_UTILISER.docx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78040" y="1783080"/>
            <a:ext cx="4251960" cy="3931920"/>
          </a:xfrm>
          <a:prstGeom prst="roundRect">
            <a:avLst/>
          </a:prstGeom>
          <a:solidFill>
            <a:srgbClr val="F1F5F9"/>
          </a:solidFill>
          <a:ln w="222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79208" y="1965960"/>
            <a:ext cx="3849624" cy="3566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1">
                <a:solidFill>
                  <a:srgbClr val="16A34A"/>
                </a:solidFill>
                <a:latin typeface="Segoe UI"/>
              </a:rPr>
              <a:t>✅  Avec Git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Un seul fichier :</a:t>
            </a:r>
          </a:p>
          <a:p>
            <a:pPr algn="l">
              <a:spcAft>
                <a:spcPts val="1400"/>
              </a:spcAft>
            </a:pPr>
            <a:r>
              <a:rPr sz="1500" b="1">
                <a:solidFill>
                  <a:srgbClr val="2563EB"/>
                </a:solidFill>
                <a:latin typeface="Consolas"/>
              </a:rPr>
              <a:t>rapport.docx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+ tout l'historique, versionné.</a:t>
            </a:r>
          </a:p>
          <a:p>
            <a:pPr algn="l">
              <a:spcAft>
                <a:spcPts val="200"/>
              </a:spcAft>
            </a:pPr>
            <a:r>
              <a:rPr sz="1350" b="0">
                <a:solidFill>
                  <a:srgbClr val="64748B"/>
                </a:solidFill>
                <a:latin typeface="Segoe UI"/>
              </a:rPr>
              <a:t>Chaque version est datée, signée,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64748B"/>
                </a:solidFill>
                <a:latin typeface="Segoe UI"/>
              </a:rPr>
              <a:t>et récupérable en un instant.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943600"/>
            <a:ext cx="10652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1">
                <a:solidFill>
                  <a:srgbClr val="1F2937"/>
                </a:solidFill>
                <a:latin typeface="Segoe UI"/>
              </a:rPr>
              <a:t>Les vraies questions : lequel est le bon ?  ·  qui a changé quoi ?  ·  comment revenir à hier matin 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61320" y="6446520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Segoe U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118872" cy="7132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>
                <a:solidFill>
                  <a:srgbClr val="1F2937"/>
                </a:solidFill>
                <a:latin typeface="Segoe UI"/>
              </a:rPr>
              <a:t>Le versioning : à quoi </a:t>
            </a:r>
            <a:r>
              <a:rPr sz="3000" b="1" dirty="0" err="1">
                <a:solidFill>
                  <a:srgbClr val="1F2937"/>
                </a:solidFill>
                <a:latin typeface="Segoe UI"/>
              </a:rPr>
              <a:t>ça</a:t>
            </a:r>
            <a:r>
              <a:rPr sz="3000" b="1" dirty="0">
                <a:solidFill>
                  <a:srgbClr val="1F2937"/>
                </a:solidFill>
                <a:latin typeface="Segoe UI"/>
              </a:rPr>
              <a:t> </a:t>
            </a:r>
            <a:r>
              <a:rPr sz="3000" b="1" dirty="0" err="1">
                <a:solidFill>
                  <a:srgbClr val="1F2937"/>
                </a:solidFill>
                <a:latin typeface="Segoe UI"/>
              </a:rPr>
              <a:t>sert</a:t>
            </a:r>
            <a:r>
              <a:rPr sz="3000" b="1" dirty="0">
                <a:solidFill>
                  <a:srgbClr val="1F2937"/>
                </a:solidFill>
                <a:latin typeface="Segoe UI"/>
              </a:rPr>
              <a:t>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 dirty="0" err="1">
                <a:solidFill>
                  <a:srgbClr val="1F2937"/>
                </a:solidFill>
                <a:latin typeface="Segoe UI"/>
              </a:rPr>
              <a:t>Versionner</a:t>
            </a:r>
            <a:r>
              <a:rPr sz="1600" b="1" dirty="0">
                <a:solidFill>
                  <a:srgbClr val="1F2937"/>
                </a:solidFill>
                <a:latin typeface="Segoe UI"/>
              </a:rPr>
              <a:t> = </a:t>
            </a:r>
            <a:r>
              <a:rPr sz="1600" b="1" dirty="0" err="1">
                <a:solidFill>
                  <a:srgbClr val="1F2937"/>
                </a:solidFill>
                <a:latin typeface="Segoe UI"/>
              </a:rPr>
              <a:t>garder</a:t>
            </a:r>
            <a:r>
              <a:rPr sz="1600" b="1" dirty="0">
                <a:solidFill>
                  <a:srgbClr val="1F2937"/>
                </a:solidFill>
                <a:latin typeface="Segoe UI"/>
              </a:rPr>
              <a:t> </a:t>
            </a:r>
            <a:r>
              <a:rPr sz="1600" b="1" dirty="0" err="1">
                <a:solidFill>
                  <a:srgbClr val="1F2937"/>
                </a:solidFill>
                <a:latin typeface="Segoe UI"/>
              </a:rPr>
              <a:t>l'historique</a:t>
            </a:r>
            <a:r>
              <a:rPr sz="1600" b="1" dirty="0">
                <a:solidFill>
                  <a:srgbClr val="1F2937"/>
                </a:solidFill>
                <a:latin typeface="Segoe UI"/>
              </a:rPr>
              <a:t> de TOUTES les versions d'un </a:t>
            </a:r>
            <a:r>
              <a:rPr sz="1600" b="1" dirty="0" err="1">
                <a:solidFill>
                  <a:srgbClr val="1F2937"/>
                </a:solidFill>
                <a:latin typeface="Segoe UI"/>
              </a:rPr>
              <a:t>projet</a:t>
            </a:r>
            <a:r>
              <a:rPr sz="1600" b="1" dirty="0">
                <a:solidFill>
                  <a:srgbClr val="1F2937"/>
                </a:solidFill>
                <a:latin typeface="Segoe UI"/>
              </a:rPr>
              <a:t>, et </a:t>
            </a:r>
            <a:r>
              <a:rPr sz="1600" b="1" dirty="0" err="1">
                <a:solidFill>
                  <a:srgbClr val="1F2937"/>
                </a:solidFill>
                <a:latin typeface="Segoe UI"/>
              </a:rPr>
              <a:t>pouvoir</a:t>
            </a:r>
            <a:r>
              <a:rPr sz="1600" b="1" dirty="0">
                <a:solidFill>
                  <a:srgbClr val="1F2937"/>
                </a:solidFill>
                <a:latin typeface="Segoe UI"/>
              </a:rPr>
              <a:t> y </a:t>
            </a:r>
            <a:r>
              <a:rPr sz="1600" b="1" dirty="0" err="1">
                <a:solidFill>
                  <a:srgbClr val="1F2937"/>
                </a:solidFill>
                <a:latin typeface="Segoe UI"/>
              </a:rPr>
              <a:t>revenir</a:t>
            </a:r>
            <a:r>
              <a:rPr sz="1600" b="1" dirty="0">
                <a:solidFill>
                  <a:srgbClr val="1F2937"/>
                </a:solidFill>
                <a:latin typeface="Segoe UI"/>
              </a:rPr>
              <a:t>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7363775"/>
              </p:ext>
            </p:extLst>
          </p:nvPr>
        </p:nvGraphicFramePr>
        <p:xfrm>
          <a:off x="777240" y="2331720"/>
          <a:ext cx="1060704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303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58368">
                <a:tc>
                  <a:txBody>
                    <a:bodyPr/>
                    <a:lstStyle/>
                    <a:p>
                      <a:r>
                        <a:rPr sz="1350" b="1" dirty="0">
                          <a:solidFill>
                            <a:srgbClr val="2563EB"/>
                          </a:solidFill>
                          <a:latin typeface="Segoe UI"/>
                        </a:rPr>
                        <a:t>📦 Pour le code</a:t>
                      </a:r>
                    </a:p>
                  </a:txBody>
                  <a:tcPr marL="118872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563EB"/>
                          </a:solidFill>
                          <a:latin typeface="Segoe UI"/>
                        </a:rPr>
                        <a:t>📝 Pour le texte en général</a:t>
                      </a:r>
                    </a:p>
                  </a:txBody>
                  <a:tcPr marL="118872" marT="27432" marB="27432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Segoe UI"/>
                        </a:rPr>
                        <a:t>scripts Python / R / SQL</a:t>
                      </a: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1F2937"/>
                          </a:solidFill>
                          <a:latin typeface="Segoe UI"/>
                        </a:rPr>
                        <a:t>rapports, notes, README, specs</a:t>
                      </a: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Segoe UI"/>
                        </a:rPr>
                        <a:t>revenir à une version qui marchait</a:t>
                      </a: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 err="1">
                          <a:solidFill>
                            <a:srgbClr val="1F2937"/>
                          </a:solidFill>
                          <a:latin typeface="Segoe UI"/>
                        </a:rPr>
                        <a:t>retrouver</a:t>
                      </a:r>
                      <a:r>
                        <a:rPr sz="1300" b="0" dirty="0">
                          <a:solidFill>
                            <a:srgbClr val="1F2937"/>
                          </a:solidFill>
                          <a:latin typeface="Segoe U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F2937"/>
                          </a:solidFill>
                          <a:latin typeface="Segoe UI"/>
                        </a:rPr>
                        <a:t>une</a:t>
                      </a:r>
                      <a:r>
                        <a:rPr sz="1300" b="0" dirty="0">
                          <a:solidFill>
                            <a:srgbClr val="1F2937"/>
                          </a:solidFill>
                          <a:latin typeface="Segoe UI"/>
                        </a:rPr>
                        <a:t> formulation </a:t>
                      </a:r>
                      <a:r>
                        <a:rPr sz="1300" b="0" dirty="0" err="1">
                          <a:solidFill>
                            <a:srgbClr val="1F2937"/>
                          </a:solidFill>
                          <a:latin typeface="Segoe UI"/>
                        </a:rPr>
                        <a:t>précédente</a:t>
                      </a:r>
                      <a:endParaRPr sz="1300" b="0" dirty="0">
                        <a:solidFill>
                          <a:srgbClr val="1F2937"/>
                        </a:solidFill>
                        <a:latin typeface="Segoe UI"/>
                      </a:endParaRP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Segoe UI"/>
                        </a:rPr>
                        <a:t>savoir qui a changé quelle ligne</a:t>
                      </a: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 err="1">
                          <a:solidFill>
                            <a:srgbClr val="1F2937"/>
                          </a:solidFill>
                          <a:latin typeface="Segoe UI"/>
                        </a:rPr>
                        <a:t>traçabilité</a:t>
                      </a:r>
                      <a:r>
                        <a:rPr sz="1300" b="0" dirty="0">
                          <a:solidFill>
                            <a:srgbClr val="1F2937"/>
                          </a:solidFill>
                          <a:latin typeface="Segoe UI"/>
                        </a:rPr>
                        <a:t> des </a:t>
                      </a:r>
                      <a:r>
                        <a:rPr sz="1300" b="0" dirty="0" err="1">
                          <a:solidFill>
                            <a:srgbClr val="1F2937"/>
                          </a:solidFill>
                          <a:latin typeface="Segoe UI"/>
                        </a:rPr>
                        <a:t>contrats</a:t>
                      </a:r>
                      <a:r>
                        <a:rPr sz="1300" b="0" dirty="0">
                          <a:solidFill>
                            <a:srgbClr val="1F2937"/>
                          </a:solidFill>
                          <a:latin typeface="Segoe UI"/>
                        </a:rPr>
                        <a:t> / documents</a:t>
                      </a:r>
                      <a:r>
                        <a:rPr lang="en-US" sz="1300" b="0" dirty="0">
                          <a:solidFill>
                            <a:srgbClr val="1F2937"/>
                          </a:solidFill>
                          <a:latin typeface="Segoe UI"/>
                        </a:rPr>
                        <a:t> / </a:t>
                      </a:r>
                      <a:r>
                        <a:rPr lang="en-US" sz="1300" b="0" dirty="0" err="1">
                          <a:solidFill>
                            <a:srgbClr val="1F2937"/>
                          </a:solidFill>
                          <a:latin typeface="Segoe UI"/>
                        </a:rPr>
                        <a:t>lois</a:t>
                      </a:r>
                      <a:r>
                        <a:rPr lang="en-US" sz="1300" b="0" dirty="0">
                          <a:solidFill>
                            <a:srgbClr val="1F2937"/>
                          </a:solidFill>
                          <a:latin typeface="Segoe UI"/>
                        </a:rPr>
                        <a:t> (e.g. </a:t>
                      </a:r>
                      <a:r>
                        <a:rPr lang="en-US" sz="1300" b="0" dirty="0" err="1">
                          <a:solidFill>
                            <a:srgbClr val="1F2937"/>
                          </a:solidFill>
                          <a:latin typeface="Segoe UI"/>
                        </a:rPr>
                        <a:t>Légifrance</a:t>
                      </a:r>
                      <a:r>
                        <a:rPr lang="en-US" sz="1300" b="0" dirty="0">
                          <a:solidFill>
                            <a:srgbClr val="1F2937"/>
                          </a:solidFill>
                          <a:latin typeface="Segoe UI"/>
                        </a:rPr>
                        <a:t>)</a:t>
                      </a:r>
                      <a:endParaRPr sz="1300" b="0" dirty="0">
                        <a:solidFill>
                          <a:srgbClr val="1F2937"/>
                        </a:solidFill>
                        <a:latin typeface="Segoe UI"/>
                      </a:endParaRP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368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F2937"/>
                          </a:solidFill>
                          <a:latin typeface="Segoe UI"/>
                        </a:rPr>
                        <a:t>travailler à plusieurs sans s'écraser</a:t>
                      </a: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1F2937"/>
                          </a:solidFill>
                          <a:latin typeface="Segoe UI"/>
                        </a:rPr>
                        <a:t>co-</a:t>
                      </a:r>
                      <a:r>
                        <a:rPr sz="1300" b="0" dirty="0" err="1">
                          <a:solidFill>
                            <a:srgbClr val="1F2937"/>
                          </a:solidFill>
                          <a:latin typeface="Segoe UI"/>
                        </a:rPr>
                        <a:t>rédaction</a:t>
                      </a:r>
                      <a:r>
                        <a:rPr sz="1300" b="0" dirty="0">
                          <a:solidFill>
                            <a:srgbClr val="1F2937"/>
                          </a:solidFill>
                          <a:latin typeface="Segoe UI"/>
                        </a:rPr>
                        <a:t> sans tout </a:t>
                      </a:r>
                      <a:r>
                        <a:rPr sz="1300" b="0" dirty="0" err="1">
                          <a:solidFill>
                            <a:srgbClr val="1F2937"/>
                          </a:solidFill>
                          <a:latin typeface="Segoe UI"/>
                        </a:rPr>
                        <a:t>casser</a:t>
                      </a:r>
                      <a:endParaRPr sz="1300" b="0" dirty="0">
                        <a:solidFill>
                          <a:srgbClr val="1F2937"/>
                        </a:solidFill>
                        <a:latin typeface="Segoe UI"/>
                      </a:endParaRP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" y="5806440"/>
            <a:ext cx="10607040" cy="713232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5943600"/>
            <a:ext cx="10149840" cy="2923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00" b="1" dirty="0">
                <a:solidFill>
                  <a:srgbClr val="2563EB"/>
                </a:solidFill>
                <a:latin typeface="Segoe UI"/>
              </a:rPr>
              <a:t>Git </a:t>
            </a:r>
            <a:r>
              <a:rPr sz="1300" b="1" dirty="0" err="1">
                <a:solidFill>
                  <a:srgbClr val="2563EB"/>
                </a:solidFill>
                <a:latin typeface="Segoe UI"/>
              </a:rPr>
              <a:t>marche</a:t>
            </a:r>
            <a:r>
              <a:rPr sz="1300" b="1" dirty="0">
                <a:solidFill>
                  <a:srgbClr val="2563EB"/>
                </a:solidFill>
                <a:latin typeface="Segoe UI"/>
              </a:rPr>
              <a:t> sur </a:t>
            </a:r>
            <a:r>
              <a:rPr sz="1300" b="1" dirty="0" err="1">
                <a:solidFill>
                  <a:srgbClr val="2563EB"/>
                </a:solidFill>
                <a:latin typeface="Segoe UI"/>
              </a:rPr>
              <a:t>n'importe</a:t>
            </a:r>
            <a:r>
              <a:rPr sz="1300" b="1" dirty="0">
                <a:solidFill>
                  <a:srgbClr val="2563EB"/>
                </a:solidFill>
                <a:latin typeface="Segoe UI"/>
              </a:rPr>
              <a:t> </a:t>
            </a:r>
            <a:r>
              <a:rPr sz="1300" b="1" dirty="0" err="1">
                <a:solidFill>
                  <a:srgbClr val="2563EB"/>
                </a:solidFill>
                <a:latin typeface="Segoe UI"/>
              </a:rPr>
              <a:t>quel</a:t>
            </a:r>
            <a:r>
              <a:rPr sz="1300" b="1" dirty="0">
                <a:solidFill>
                  <a:srgbClr val="2563EB"/>
                </a:solidFill>
                <a:latin typeface="Segoe UI"/>
              </a:rPr>
              <a:t> TEXTE</a:t>
            </a:r>
            <a:r>
              <a:rPr sz="1300" b="0" dirty="0">
                <a:solidFill>
                  <a:srgbClr val="1F2937"/>
                </a:solidFill>
                <a:latin typeface="Segoe UI"/>
              </a:rPr>
              <a:t>  (code, Markdown, CSV, LaTeX…).  Il est </a:t>
            </a:r>
            <a:r>
              <a:rPr sz="1300" b="0" dirty="0" err="1">
                <a:solidFill>
                  <a:srgbClr val="1F2937"/>
                </a:solidFill>
                <a:latin typeface="Segoe UI"/>
              </a:rPr>
              <a:t>moins</a:t>
            </a:r>
            <a:r>
              <a:rPr sz="1300" b="0" dirty="0">
                <a:solidFill>
                  <a:srgbClr val="1F2937"/>
                </a:solidFill>
                <a:latin typeface="Segoe UI"/>
              </a:rPr>
              <a:t> utile sur le </a:t>
            </a:r>
            <a:r>
              <a:rPr sz="1300" b="0" dirty="0" err="1">
                <a:solidFill>
                  <a:srgbClr val="1F2937"/>
                </a:solidFill>
                <a:latin typeface="Segoe UI"/>
              </a:rPr>
              <a:t>binaire</a:t>
            </a:r>
            <a:r>
              <a:rPr sz="1300" b="0" dirty="0">
                <a:solidFill>
                  <a:srgbClr val="1F2937"/>
                </a:solidFill>
                <a:latin typeface="Segoe UI"/>
              </a:rPr>
              <a:t> (xlsx, </a:t>
            </a:r>
            <a:r>
              <a:rPr lang="en-US" sz="1300" b="0" dirty="0">
                <a:solidFill>
                  <a:srgbClr val="1F2937"/>
                </a:solidFill>
                <a:latin typeface="Segoe UI"/>
              </a:rPr>
              <a:t>pickle</a:t>
            </a:r>
            <a:r>
              <a:rPr sz="1300" b="0" dirty="0">
                <a:solidFill>
                  <a:srgbClr val="1F2937"/>
                </a:solidFill>
                <a:latin typeface="Segoe UI"/>
              </a:rPr>
              <a:t>) : pas de diff </a:t>
            </a:r>
            <a:r>
              <a:rPr sz="1300" b="0" dirty="0" err="1">
                <a:solidFill>
                  <a:srgbClr val="1F2937"/>
                </a:solidFill>
                <a:latin typeface="Segoe UI"/>
              </a:rPr>
              <a:t>lisible</a:t>
            </a:r>
            <a:r>
              <a:rPr sz="1300" b="0" dirty="0">
                <a:solidFill>
                  <a:srgbClr val="1F2937"/>
                </a:solidFill>
                <a:latin typeface="Segoe UI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446520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Segoe U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118872" cy="7132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dirty="0">
                <a:solidFill>
                  <a:srgbClr val="1F2937"/>
                </a:solidFill>
                <a:latin typeface="Segoe UI"/>
              </a:rPr>
              <a:t>Trois analogies pour </a:t>
            </a:r>
            <a:r>
              <a:rPr sz="3000" b="1" dirty="0" err="1">
                <a:solidFill>
                  <a:srgbClr val="1F2937"/>
                </a:solidFill>
                <a:latin typeface="Segoe UI"/>
              </a:rPr>
              <a:t>comprendre</a:t>
            </a:r>
            <a:endParaRPr sz="3000" b="1" dirty="0">
              <a:solidFill>
                <a:srgbClr val="1F2937"/>
              </a:solidFill>
              <a:latin typeface="Segoe UI"/>
            </a:endParaRPr>
          </a:p>
          <a:p>
            <a:r>
              <a:rPr sz="1350" dirty="0">
                <a:solidFill>
                  <a:srgbClr val="64748B"/>
                </a:solidFill>
                <a:latin typeface="Segoe UI"/>
              </a:rPr>
              <a:t>Un commit = un point de </a:t>
            </a:r>
            <a:r>
              <a:rPr sz="1350" dirty="0" err="1">
                <a:solidFill>
                  <a:srgbClr val="64748B"/>
                </a:solidFill>
                <a:latin typeface="Segoe UI"/>
              </a:rPr>
              <a:t>sauvegarde</a:t>
            </a:r>
            <a:r>
              <a:rPr sz="1350" dirty="0">
                <a:solidFill>
                  <a:srgbClr val="64748B"/>
                </a:solidFill>
                <a:latin typeface="Segoe UI"/>
              </a:rPr>
              <a:t> du </a:t>
            </a:r>
            <a:r>
              <a:rPr sz="1350" dirty="0" err="1">
                <a:solidFill>
                  <a:srgbClr val="64748B"/>
                </a:solidFill>
                <a:latin typeface="Segoe UI"/>
              </a:rPr>
              <a:t>projet</a:t>
            </a:r>
            <a:endParaRPr sz="1350" dirty="0">
              <a:solidFill>
                <a:srgbClr val="64748B"/>
              </a:solidFill>
              <a:latin typeface="Segoe UI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77240" y="2286000"/>
            <a:ext cx="3383280" cy="2743200"/>
          </a:xfrm>
          <a:prstGeom prst="roundRect">
            <a:avLst/>
          </a:prstGeom>
          <a:solidFill>
            <a:srgbClr val="F1F5F9"/>
          </a:solidFill>
          <a:ln w="222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8408" y="2468880"/>
            <a:ext cx="2980944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1">
                <a:solidFill>
                  <a:srgbClr val="2563EB"/>
                </a:solidFill>
                <a:latin typeface="Segoe UI"/>
              </a:rPr>
              <a:t>⏳  Timeline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1F2937"/>
                </a:solidFill>
                <a:latin typeface="Segoe UI"/>
              </a:rPr>
              <a:t>Une machine à voyager dans le temps.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Reviens à n'importe quel instant du projet, puis reviens au présent.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2286000"/>
            <a:ext cx="3383280" cy="2743200"/>
          </a:xfrm>
          <a:prstGeom prst="roundRect">
            <a:avLst/>
          </a:prstGeom>
          <a:solidFill>
            <a:srgbClr val="F1F5F9"/>
          </a:solidFill>
          <a:ln w="222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90288" y="2468880"/>
            <a:ext cx="2980944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1">
                <a:solidFill>
                  <a:srgbClr val="16A34A"/>
                </a:solidFill>
                <a:latin typeface="Segoe UI"/>
              </a:rPr>
              <a:t>📸  Snapshot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1F2937"/>
                </a:solidFill>
                <a:latin typeface="Segoe UI"/>
              </a:rPr>
              <a:t>Chaque commit est une photo COMPLÈTE du projet.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Pas un fragile « patch » : une image entière, datée et signée.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01000" y="2286000"/>
            <a:ext cx="3383280" cy="2743200"/>
          </a:xfrm>
          <a:prstGeom prst="roundRect">
            <a:avLst/>
          </a:prstGeom>
          <a:solidFill>
            <a:srgbClr val="F1F5F9"/>
          </a:solidFill>
          <a:ln w="2222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02168" y="2468880"/>
            <a:ext cx="2980944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1">
                <a:solidFill>
                  <a:srgbClr val="7C3AED"/>
                </a:solidFill>
                <a:latin typeface="Segoe UI"/>
              </a:rPr>
              <a:t>🎮  Save game</a:t>
            </a:r>
          </a:p>
          <a:p>
            <a:pPr algn="l">
              <a:spcAft>
                <a:spcPts val="700"/>
              </a:spcAft>
            </a:pPr>
            <a:r>
              <a:rPr sz="1350" b="0">
                <a:solidFill>
                  <a:srgbClr val="1F2937"/>
                </a:solidFill>
                <a:latin typeface="Segoe UI"/>
              </a:rPr>
              <a:t>Un commit = une sauvegarde de partie.</a:t>
            </a:r>
          </a:p>
          <a:p>
            <a:pPr algn="l">
              <a:spcAft>
                <a:spcPts val="700"/>
              </a:spcAft>
            </a:pPr>
            <a:r>
              <a:rPr sz="1300" b="0">
                <a:solidFill>
                  <a:srgbClr val="64748B"/>
                </a:solidFill>
                <a:latin typeface="Segoe UI"/>
              </a:rPr>
              <a:t>Tu peux toujours « recharger » une sauvegarde précédente.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532120"/>
            <a:ext cx="106070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700"/>
              </a:spcAft>
            </a:pPr>
            <a:r>
              <a:rPr sz="1350" b="1">
                <a:solidFill>
                  <a:srgbClr val="1F2937"/>
                </a:solidFill>
                <a:latin typeface="Segoe UI"/>
              </a:rPr>
              <a:t>Chaque commit porte : un identifiant, l'auteur, la date, et un message qui dit « pourquoi ».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61320" y="6446520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Segoe U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118872" cy="7132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Segoe UI"/>
              </a:rPr>
              <a:t>N'aie pas peur de casser</a:t>
            </a:r>
          </a:p>
          <a:p>
            <a:r>
              <a:rPr sz="1350">
                <a:solidFill>
                  <a:srgbClr val="64748B"/>
                </a:solidFill>
                <a:latin typeface="Segoe UI"/>
              </a:rPr>
              <a:t>Tout ce qui est commité est en sécurité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694944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0">
                <a:solidFill>
                  <a:srgbClr val="1F2937"/>
                </a:solidFill>
                <a:latin typeface="Segoe UI"/>
              </a:rPr>
              <a:t>✅  Une fois commité, c'est sauvegardé — tu peux TOUJOURS y revenir.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1F2937"/>
                </a:solidFill>
                <a:latin typeface="Segoe UI"/>
              </a:rPr>
              <a:t>✅  Tester dans une branche n'abîme pas le reste du projet.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1F2937"/>
                </a:solidFill>
                <a:latin typeface="Segoe UI"/>
              </a:rPr>
              <a:t>✅  Git oublie rarement : même un commit « perdu » se retrouve.</a:t>
            </a:r>
          </a:p>
          <a:p>
            <a:pPr algn="l">
              <a:spcAft>
                <a:spcPts val="1400"/>
              </a:spcAft>
            </a:pPr>
            <a:r>
              <a:rPr sz="1600" b="0">
                <a:solidFill>
                  <a:srgbClr val="B45309"/>
                </a:solidFill>
                <a:latin typeface="Segoe UI"/>
              </a:rPr>
              <a:t>⚠️  Seul le travail JAMAIS commité est vraiment fragile.</a:t>
            </a:r>
          </a:p>
          <a:p>
            <a:pPr algn="l">
              <a:spcAft>
                <a:spcPts val="700"/>
              </a:spcAft>
            </a:pPr>
            <a:r>
              <a:rPr sz="1600" b="1">
                <a:solidFill>
                  <a:srgbClr val="16A34A"/>
                </a:solidFill>
                <a:latin typeface="Segoe UI"/>
              </a:rPr>
              <a:t>→ La parade : commite souvent, par petits pas.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2011680"/>
            <a:ext cx="3383280" cy="2834640"/>
          </a:xfrm>
          <a:prstGeom prst="roundRect">
            <a:avLst/>
          </a:prstGeom>
          <a:solidFill>
            <a:srgbClr val="F1F5F9"/>
          </a:solidFill>
          <a:ln w="254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75320" y="2331720"/>
            <a:ext cx="292608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4000" b="0">
                <a:solidFill>
                  <a:srgbClr val="1F2937"/>
                </a:solidFill>
                <a:latin typeface="Segoe UI"/>
              </a:rPr>
              <a:t>🛟</a:t>
            </a:r>
          </a:p>
          <a:p>
            <a:pPr algn="ctr">
              <a:spcAft>
                <a:spcPts val="800"/>
              </a:spcAft>
            </a:pPr>
            <a:r>
              <a:rPr sz="1600" b="1">
                <a:solidFill>
                  <a:srgbClr val="16A34A"/>
                </a:solidFill>
                <a:latin typeface="Segoe UI"/>
              </a:rPr>
              <a:t>Règle d'or</a:t>
            </a:r>
          </a:p>
          <a:p>
            <a:pPr algn="ctr">
              <a:spcAft>
                <a:spcPts val="700"/>
              </a:spcAft>
            </a:pPr>
            <a:r>
              <a:rPr sz="1500" b="0">
                <a:solidFill>
                  <a:srgbClr val="1F2937"/>
                </a:solidFill>
                <a:latin typeface="Segoe UI"/>
              </a:rPr>
              <a:t>« Avec Git, presque tout se récupère. 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46520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Segoe U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118872" cy="7132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Segoe UI"/>
              </a:rPr>
              <a:t>Le pouvoir de git status</a:t>
            </a:r>
          </a:p>
          <a:p>
            <a:r>
              <a:rPr sz="1350">
                <a:solidFill>
                  <a:srgbClr val="64748B"/>
                </a:solidFill>
                <a:latin typeface="Segoe UI"/>
              </a:rPr>
              <a:t>Ta boussole : lis-la avant ET après chaque commande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83080"/>
            <a:ext cx="5120640" cy="4023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1500" b="1">
                <a:solidFill>
                  <a:srgbClr val="1F2937"/>
                </a:solidFill>
                <a:latin typeface="Segoe UI"/>
              </a:rPr>
              <a:t>Elle te dit, à tout moment :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64748B"/>
                </a:solidFill>
                <a:latin typeface="Segoe UI"/>
              </a:rPr>
              <a:t>• les nouveaux fichiers (untracked)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B45309"/>
                </a:solidFill>
                <a:latin typeface="Segoe UI"/>
              </a:rPr>
              <a:t>• les fichiers modifiés mais pas préparés</a:t>
            </a:r>
          </a:p>
          <a:p>
            <a:pPr algn="l">
              <a:spcAft>
                <a:spcPts val="1000"/>
              </a:spcAft>
            </a:pPr>
            <a:r>
              <a:rPr sz="1450" b="0">
                <a:solidFill>
                  <a:srgbClr val="16A34A"/>
                </a:solidFill>
                <a:latin typeface="Segoe UI"/>
              </a:rPr>
              <a:t>• ce qui est prêt à committer (staged)</a:t>
            </a:r>
          </a:p>
          <a:p>
            <a:pPr algn="l">
              <a:spcAft>
                <a:spcPts val="1600"/>
              </a:spcAft>
            </a:pPr>
            <a:r>
              <a:rPr sz="1450" b="0">
                <a:solidFill>
                  <a:srgbClr val="2563EB"/>
                </a:solidFill>
                <a:latin typeface="Segoe UI"/>
              </a:rPr>
              <a:t>• si tu es en avance / retard sur le remote</a:t>
            </a:r>
          </a:p>
          <a:p>
            <a:pPr algn="l">
              <a:spcAft>
                <a:spcPts val="700"/>
              </a:spcAft>
            </a:pPr>
            <a:r>
              <a:rPr sz="1450" b="1">
                <a:solidFill>
                  <a:srgbClr val="1F2937"/>
                </a:solidFill>
                <a:latin typeface="Segoe UI"/>
              </a:rPr>
              <a:t>Gratuit, rassurant — évite 95 % des paniques.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783080"/>
            <a:ext cx="5303520" cy="40233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355080" y="1965960"/>
            <a:ext cx="49377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350" b="1">
                <a:solidFill>
                  <a:srgbClr val="1F2937"/>
                </a:solidFill>
                <a:latin typeface="Consolas"/>
              </a:rPr>
              <a:t>$ git status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Sur la branche main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2563EB"/>
                </a:solidFill>
                <a:latin typeface="Consolas"/>
              </a:rPr>
              <a:t>En avance sur 'origin/main' de 1 commit.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16A34A"/>
                </a:solidFill>
                <a:latin typeface="Consolas"/>
              </a:rPr>
              <a:t>Modifications qui seront validées :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16A34A"/>
                </a:solidFill>
                <a:latin typeface="Consolas"/>
              </a:rPr>
              <a:t>        modifié : prime.py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B45309"/>
                </a:solidFill>
                <a:latin typeface="Consolas"/>
              </a:rPr>
              <a:t>Modifications non préparées :</a:t>
            </a:r>
          </a:p>
          <a:p>
            <a:pPr algn="l">
              <a:spcAft>
                <a:spcPts val="1000"/>
              </a:spcAft>
            </a:pPr>
            <a:r>
              <a:rPr sz="1250" b="0">
                <a:solidFill>
                  <a:srgbClr val="B45309"/>
                </a:solidFill>
                <a:latin typeface="Consolas"/>
              </a:rPr>
              <a:t>        modifié : README.md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Fichiers non suivis :</a:t>
            </a:r>
          </a:p>
          <a:p>
            <a:pPr algn="l">
              <a:spcAft>
                <a:spcPts val="700"/>
              </a:spcAft>
            </a:pPr>
            <a:r>
              <a:rPr sz="1250" b="0">
                <a:solidFill>
                  <a:srgbClr val="64748B"/>
                </a:solidFill>
                <a:latin typeface="Consolas"/>
              </a:rPr>
              <a:t>        notes.txt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46520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Segoe U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118872" cy="7132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900" b="1">
                <a:solidFill>
                  <a:srgbClr val="1F2937"/>
                </a:solidFill>
                <a:latin typeface="Segoe UI"/>
              </a:rPr>
              <a:t>Le workflow Git : du Working Directory au Remote</a:t>
            </a:r>
          </a:p>
          <a:p>
            <a:r>
              <a:rPr sz="1350">
                <a:solidFill>
                  <a:srgbClr val="64748B"/>
                </a:solidFill>
                <a:latin typeface="Segoe UI"/>
              </a:rPr>
              <a:t>Où interviennent les commandes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463040"/>
            <a:ext cx="106527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50" b="0">
                <a:solidFill>
                  <a:srgbClr val="64748B"/>
                </a:solidFill>
                <a:latin typeface="Segoe UI"/>
              </a:rPr>
              <a:t>Une modification voyage de gauche à droite — chaque flèche porte la commande qui la fait avancer.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514600"/>
            <a:ext cx="2148840" cy="1325880"/>
          </a:xfrm>
          <a:prstGeom prst="roundRect">
            <a:avLst/>
          </a:prstGeom>
          <a:solidFill>
            <a:srgbClr val="F1F5F9"/>
          </a:solidFill>
          <a:ln w="24130">
            <a:solidFill>
              <a:srgbClr val="EA58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>
                <a:solidFill>
                  <a:srgbClr val="EA580C"/>
                </a:solidFill>
                <a:latin typeface="Segoe UI"/>
              </a:rPr>
              <a:t>🛠️ Working Directory</a:t>
            </a:r>
          </a:p>
          <a:p>
            <a:pPr algn="ctr"/>
            <a:r>
              <a:rPr sz="1000">
                <a:solidFill>
                  <a:srgbClr val="64748B"/>
                </a:solidFill>
                <a:latin typeface="Segoe UI"/>
              </a:rPr>
              <a:t>tes fichiers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0" y="2514600"/>
            <a:ext cx="2148840" cy="1325880"/>
          </a:xfrm>
          <a:prstGeom prst="roundRect">
            <a:avLst/>
          </a:prstGeom>
          <a:solidFill>
            <a:srgbClr val="F1F5F9"/>
          </a:solidFill>
          <a:ln w="2413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>
                <a:solidFill>
                  <a:srgbClr val="16A34A"/>
                </a:solidFill>
                <a:latin typeface="Segoe UI"/>
              </a:rPr>
              <a:t>📦 Staging Area</a:t>
            </a:r>
          </a:p>
          <a:p>
            <a:pPr algn="ctr"/>
            <a:r>
              <a:rPr sz="1000">
                <a:solidFill>
                  <a:srgbClr val="64748B"/>
                </a:solidFill>
                <a:latin typeface="Segoe UI"/>
              </a:rPr>
              <a:t>préparé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2514600"/>
            <a:ext cx="2148840" cy="1325880"/>
          </a:xfrm>
          <a:prstGeom prst="roundRect">
            <a:avLst/>
          </a:prstGeom>
          <a:solidFill>
            <a:srgbClr val="F1F5F9"/>
          </a:solidFill>
          <a:ln w="2413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>
                <a:solidFill>
                  <a:srgbClr val="2563EB"/>
                </a:solidFill>
                <a:latin typeface="Segoe UI"/>
              </a:rPr>
              <a:t>💾 Local Repository</a:t>
            </a:r>
          </a:p>
          <a:p>
            <a:pPr algn="ctr"/>
            <a:r>
              <a:rPr sz="1000">
                <a:solidFill>
                  <a:srgbClr val="64748B"/>
                </a:solidFill>
                <a:latin typeface="Segoe UI"/>
              </a:rPr>
              <a:t>.git · historique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81160" y="2514600"/>
            <a:ext cx="2148840" cy="1325880"/>
          </a:xfrm>
          <a:prstGeom prst="roundRect">
            <a:avLst/>
          </a:prstGeom>
          <a:solidFill>
            <a:srgbClr val="F1F5F9"/>
          </a:solidFill>
          <a:ln w="24130">
            <a:solidFill>
              <a:srgbClr val="B779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350" b="1">
                <a:solidFill>
                  <a:srgbClr val="B7790B"/>
                </a:solidFill>
                <a:latin typeface="Segoe UI"/>
              </a:rPr>
              <a:t>☁️ Remote</a:t>
            </a:r>
          </a:p>
          <a:p>
            <a:pPr algn="ctr"/>
            <a:r>
              <a:rPr sz="1000">
                <a:solidFill>
                  <a:srgbClr val="64748B"/>
                </a:solidFill>
                <a:latin typeface="Segoe UI"/>
              </a:rPr>
              <a:t>origin / Azure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807208" y="2944368"/>
            <a:ext cx="667512" cy="475488"/>
          </a:xfrm>
          <a:prstGeom prst="rightArrow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49425" y="2331720"/>
            <a:ext cx="166420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dirty="0">
                <a:solidFill>
                  <a:srgbClr val="1F2937"/>
                </a:solidFill>
                <a:latin typeface="Consolas"/>
              </a:rPr>
              <a:t>git add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641848" y="2944368"/>
            <a:ext cx="667512" cy="475488"/>
          </a:xfrm>
          <a:prstGeom prst="righ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134357" y="2331720"/>
            <a:ext cx="1664207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dirty="0">
                <a:solidFill>
                  <a:srgbClr val="1F2937"/>
                </a:solidFill>
                <a:latin typeface="Consolas"/>
              </a:rPr>
              <a:t>git commit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8458200" y="2944368"/>
            <a:ext cx="822960" cy="475488"/>
          </a:xfrm>
          <a:prstGeom prst="rightArrow">
            <a:avLst/>
          </a:prstGeom>
          <a:solidFill>
            <a:srgbClr val="B779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991856" y="2331720"/>
            <a:ext cx="175564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 dirty="0">
                <a:solidFill>
                  <a:srgbClr val="1F2937"/>
                </a:solidFill>
                <a:latin typeface="Consolas"/>
              </a:rPr>
              <a:t>git push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950208"/>
            <a:ext cx="8001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2563EB"/>
                </a:solidFill>
                <a:latin typeface="Segoe UI"/>
              </a:rPr>
              <a:t>💻  LOCAL — sur ta machine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3950208"/>
            <a:ext cx="2331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250" b="1">
                <a:solidFill>
                  <a:srgbClr val="B7790B"/>
                </a:solidFill>
                <a:latin typeface="Segoe UI"/>
              </a:rPr>
              <a:t>☁️  DISTANT</a:t>
            </a:r>
          </a:p>
        </p:txBody>
      </p:sp>
      <p:sp>
        <p:nvSpPr>
          <p:cNvPr id="17" name="Left Arrow 16"/>
          <p:cNvSpPr/>
          <p:nvPr/>
        </p:nvSpPr>
        <p:spPr>
          <a:xfrm>
            <a:off x="640080" y="4663440"/>
            <a:ext cx="10927080" cy="585216"/>
          </a:xfrm>
          <a:prstGeom prst="leftArrow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egoe UI"/>
              </a:rPr>
              <a:t>git fetch  /  git pull   —   récupérer + synchroniser depuis le Remote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669280"/>
            <a:ext cx="10652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250" b="0" dirty="0">
                <a:solidFill>
                  <a:srgbClr val="64748B"/>
                </a:solidFill>
                <a:latin typeface="Segoe UI"/>
              </a:rPr>
              <a:t>La toute première </a:t>
            </a:r>
            <a:r>
              <a:rPr sz="1250" b="0" dirty="0" err="1">
                <a:solidFill>
                  <a:srgbClr val="64748B"/>
                </a:solidFill>
                <a:latin typeface="Segoe UI"/>
              </a:rPr>
              <a:t>fois</a:t>
            </a:r>
            <a:r>
              <a:rPr sz="1250" b="0" dirty="0">
                <a:solidFill>
                  <a:srgbClr val="64748B"/>
                </a:solidFill>
                <a:latin typeface="Segoe UI"/>
              </a:rPr>
              <a:t>, on </a:t>
            </a:r>
            <a:r>
              <a:rPr sz="1250" b="0" dirty="0" err="1">
                <a:solidFill>
                  <a:srgbClr val="64748B"/>
                </a:solidFill>
                <a:latin typeface="Segoe UI"/>
              </a:rPr>
              <a:t>récupère</a:t>
            </a:r>
            <a:r>
              <a:rPr sz="1250" b="0" dirty="0">
                <a:solidFill>
                  <a:srgbClr val="64748B"/>
                </a:solidFill>
                <a:latin typeface="Segoe UI"/>
              </a:rPr>
              <a:t> le </a:t>
            </a:r>
            <a:r>
              <a:rPr sz="1250" b="0" dirty="0" err="1">
                <a:solidFill>
                  <a:srgbClr val="64748B"/>
                </a:solidFill>
                <a:latin typeface="Segoe UI"/>
              </a:rPr>
              <a:t>projet</a:t>
            </a:r>
            <a:r>
              <a:rPr sz="1250" b="0" dirty="0">
                <a:solidFill>
                  <a:srgbClr val="64748B"/>
                </a:solidFill>
                <a:latin typeface="Segoe UI"/>
              </a:rPr>
              <a:t> </a:t>
            </a:r>
            <a:r>
              <a:rPr sz="1250" b="0" dirty="0" err="1">
                <a:solidFill>
                  <a:srgbClr val="64748B"/>
                </a:solidFill>
                <a:latin typeface="Segoe UI"/>
              </a:rPr>
              <a:t>entier</a:t>
            </a:r>
            <a:r>
              <a:rPr sz="1250" b="0" dirty="0">
                <a:solidFill>
                  <a:srgbClr val="64748B"/>
                </a:solidFill>
                <a:latin typeface="Segoe UI"/>
              </a:rPr>
              <a:t> avec  git clone.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61320" y="6446520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Segoe U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118872" cy="713232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Segoe UI"/>
              </a:rPr>
              <a:t>Local vs Remote</a:t>
            </a:r>
          </a:p>
          <a:p>
            <a:r>
              <a:rPr sz="1350">
                <a:solidFill>
                  <a:srgbClr val="64748B"/>
                </a:solidFill>
                <a:latin typeface="Segoe UI"/>
              </a:rPr>
              <a:t>Ton dépôt local est complet ; le remote est le hub partagé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5166360" cy="3566160"/>
          </a:xfrm>
          <a:prstGeom prst="roundRect">
            <a:avLst/>
          </a:prstGeom>
          <a:solidFill>
            <a:srgbClr val="F1F5F9"/>
          </a:solidFill>
          <a:ln w="222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8408" y="1965960"/>
            <a:ext cx="4764024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1" dirty="0">
                <a:solidFill>
                  <a:srgbClr val="2563EB"/>
                </a:solidFill>
                <a:latin typeface="Segoe UI"/>
              </a:rPr>
              <a:t>🖥️  Local  (ta machine)</a:t>
            </a:r>
          </a:p>
          <a:p>
            <a:pPr algn="l">
              <a:spcAft>
                <a:spcPts val="900"/>
              </a:spcAft>
            </a:pPr>
            <a:r>
              <a:rPr sz="1400" b="0" dirty="0">
                <a:solidFill>
                  <a:srgbClr val="2563EB"/>
                </a:solidFill>
                <a:latin typeface="Consolas"/>
              </a:rPr>
              <a:t>git </a:t>
            </a:r>
            <a:r>
              <a:rPr sz="1400" b="0" dirty="0" err="1">
                <a:solidFill>
                  <a:srgbClr val="2563EB"/>
                </a:solidFill>
                <a:latin typeface="Consolas"/>
              </a:rPr>
              <a:t>init</a:t>
            </a:r>
            <a:r>
              <a:rPr sz="1400" b="0" dirty="0">
                <a:solidFill>
                  <a:srgbClr val="2563EB"/>
                </a:solidFill>
                <a:latin typeface="Consolas"/>
              </a:rPr>
              <a:t> / git clone</a:t>
            </a:r>
          </a:p>
          <a:p>
            <a:pPr algn="l">
              <a:spcAft>
                <a:spcPts val="900"/>
              </a:spcAft>
            </a:pPr>
            <a:r>
              <a:rPr sz="1400" b="0" dirty="0">
                <a:solidFill>
                  <a:srgbClr val="2563EB"/>
                </a:solidFill>
                <a:latin typeface="Consolas"/>
              </a:rPr>
              <a:t>git status</a:t>
            </a:r>
          </a:p>
          <a:p>
            <a:pPr algn="l">
              <a:spcAft>
                <a:spcPts val="900"/>
              </a:spcAft>
            </a:pPr>
            <a:r>
              <a:rPr sz="1400" b="0" dirty="0">
                <a:solidFill>
                  <a:srgbClr val="2563EB"/>
                </a:solidFill>
                <a:latin typeface="Consolas"/>
              </a:rPr>
              <a:t>git add</a:t>
            </a:r>
          </a:p>
          <a:p>
            <a:pPr algn="l">
              <a:spcAft>
                <a:spcPts val="900"/>
              </a:spcAft>
            </a:pPr>
            <a:r>
              <a:rPr sz="1400" b="0" dirty="0">
                <a:solidFill>
                  <a:srgbClr val="2563EB"/>
                </a:solidFill>
                <a:latin typeface="Consolas"/>
              </a:rPr>
              <a:t>git commit</a:t>
            </a:r>
          </a:p>
          <a:p>
            <a:pPr algn="l">
              <a:spcAft>
                <a:spcPts val="900"/>
              </a:spcAft>
            </a:pPr>
            <a:r>
              <a:rPr sz="1400" b="0" dirty="0">
                <a:solidFill>
                  <a:srgbClr val="2563EB"/>
                </a:solidFill>
                <a:latin typeface="Consolas"/>
              </a:rPr>
              <a:t>git log  /  git diff</a:t>
            </a:r>
          </a:p>
          <a:p>
            <a:pPr algn="l">
              <a:spcAft>
                <a:spcPts val="700"/>
              </a:spcAft>
            </a:pPr>
            <a:r>
              <a:rPr sz="1400" b="0" dirty="0">
                <a:solidFill>
                  <a:srgbClr val="2563EB"/>
                </a:solidFill>
                <a:latin typeface="Consolas"/>
              </a:rPr>
              <a:t>git switch  (changer de </a:t>
            </a:r>
            <a:r>
              <a:rPr sz="1400" b="0" dirty="0" err="1">
                <a:solidFill>
                  <a:srgbClr val="2563EB"/>
                </a:solidFill>
                <a:latin typeface="Consolas"/>
              </a:rPr>
              <a:t>branche</a:t>
            </a:r>
            <a:r>
              <a:rPr sz="1400" b="0" dirty="0">
                <a:solidFill>
                  <a:srgbClr val="2563EB"/>
                </a:solidFill>
                <a:latin typeface="Consolas"/>
              </a:rPr>
              <a:t>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783080"/>
            <a:ext cx="5166360" cy="3566160"/>
          </a:xfrm>
          <a:prstGeom prst="roundRect">
            <a:avLst/>
          </a:prstGeom>
          <a:solidFill>
            <a:srgbClr val="F1F5F9"/>
          </a:solidFill>
          <a:ln w="222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64807" y="1965960"/>
            <a:ext cx="4764024" cy="173893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1" dirty="0">
                <a:solidFill>
                  <a:srgbClr val="B45309"/>
                </a:solidFill>
                <a:latin typeface="Segoe UI"/>
              </a:rPr>
              <a:t>☁️  Remote  (origin / Azure)</a:t>
            </a:r>
          </a:p>
          <a:p>
            <a:pPr algn="l">
              <a:spcAft>
                <a:spcPts val="1100"/>
              </a:spcAft>
            </a:pPr>
            <a:r>
              <a:rPr sz="1400" b="0" dirty="0">
                <a:solidFill>
                  <a:srgbClr val="B45309"/>
                </a:solidFill>
                <a:latin typeface="Consolas"/>
              </a:rPr>
              <a:t>git fetch    </a:t>
            </a:r>
            <a:r>
              <a:rPr lang="en-US" sz="1400" b="0" dirty="0">
                <a:solidFill>
                  <a:srgbClr val="B45309"/>
                </a:solidFill>
                <a:latin typeface="Consolas"/>
              </a:rPr>
              <a:t>   </a:t>
            </a:r>
            <a:r>
              <a:rPr sz="1400" b="0" dirty="0" err="1">
                <a:solidFill>
                  <a:srgbClr val="B45309"/>
                </a:solidFill>
                <a:latin typeface="Consolas"/>
              </a:rPr>
              <a:t>télécharger</a:t>
            </a:r>
            <a:r>
              <a:rPr sz="1400" b="0" dirty="0">
                <a:solidFill>
                  <a:srgbClr val="B45309"/>
                </a:solidFill>
                <a:latin typeface="Consolas"/>
              </a:rPr>
              <a:t> les nouveautés</a:t>
            </a:r>
          </a:p>
          <a:p>
            <a:pPr algn="l">
              <a:spcAft>
                <a:spcPts val="1100"/>
              </a:spcAft>
            </a:pPr>
            <a:r>
              <a:rPr sz="1400" b="0" dirty="0">
                <a:solidFill>
                  <a:srgbClr val="B45309"/>
                </a:solidFill>
                <a:latin typeface="Consolas"/>
              </a:rPr>
              <a:t>git pull     </a:t>
            </a:r>
            <a:r>
              <a:rPr lang="en-US" sz="1400" b="0" dirty="0">
                <a:solidFill>
                  <a:srgbClr val="B45309"/>
                </a:solidFill>
                <a:latin typeface="Consolas"/>
              </a:rPr>
              <a:t>   </a:t>
            </a:r>
            <a:r>
              <a:rPr sz="1400" b="0" dirty="0" err="1">
                <a:solidFill>
                  <a:srgbClr val="B45309"/>
                </a:solidFill>
                <a:latin typeface="Consolas"/>
              </a:rPr>
              <a:t>télécharger</a:t>
            </a:r>
            <a:r>
              <a:rPr sz="1400" b="0" dirty="0">
                <a:solidFill>
                  <a:srgbClr val="B45309"/>
                </a:solidFill>
                <a:latin typeface="Consolas"/>
              </a:rPr>
              <a:t> + </a:t>
            </a:r>
            <a:r>
              <a:rPr sz="1400" b="0" dirty="0" err="1">
                <a:solidFill>
                  <a:srgbClr val="B45309"/>
                </a:solidFill>
                <a:latin typeface="Consolas"/>
              </a:rPr>
              <a:t>synchroniser</a:t>
            </a:r>
            <a:endParaRPr sz="1400" b="0" dirty="0">
              <a:solidFill>
                <a:srgbClr val="B45309"/>
              </a:solidFill>
              <a:latin typeface="Consolas"/>
            </a:endParaRPr>
          </a:p>
          <a:p>
            <a:pPr algn="l">
              <a:spcAft>
                <a:spcPts val="1100"/>
              </a:spcAft>
            </a:pPr>
            <a:r>
              <a:rPr sz="1400" b="0" dirty="0">
                <a:solidFill>
                  <a:srgbClr val="B45309"/>
                </a:solidFill>
                <a:latin typeface="Consolas"/>
              </a:rPr>
              <a:t>git push     </a:t>
            </a:r>
            <a:r>
              <a:rPr lang="en-US" sz="1400" b="0" dirty="0">
                <a:solidFill>
                  <a:srgbClr val="B45309"/>
                </a:solidFill>
                <a:latin typeface="Consolas"/>
              </a:rPr>
              <a:t>   upload</a:t>
            </a:r>
            <a:r>
              <a:rPr sz="1400" b="0" dirty="0">
                <a:solidFill>
                  <a:srgbClr val="B45309"/>
                </a:solidFill>
                <a:latin typeface="Consolas"/>
              </a:rPr>
              <a:t> </a:t>
            </a:r>
            <a:r>
              <a:rPr sz="1400" b="0" dirty="0" err="1">
                <a:solidFill>
                  <a:srgbClr val="B45309"/>
                </a:solidFill>
                <a:latin typeface="Consolas"/>
              </a:rPr>
              <a:t>tes</a:t>
            </a:r>
            <a:r>
              <a:rPr sz="1400" b="0" dirty="0">
                <a:solidFill>
                  <a:srgbClr val="B45309"/>
                </a:solidFill>
                <a:latin typeface="Consolas"/>
              </a:rPr>
              <a:t> commits</a:t>
            </a:r>
          </a:p>
          <a:p>
            <a:pPr algn="l">
              <a:spcAft>
                <a:spcPts val="700"/>
              </a:spcAft>
            </a:pPr>
            <a:r>
              <a:rPr sz="1400" b="0" dirty="0">
                <a:solidFill>
                  <a:srgbClr val="B45309"/>
                </a:solidFill>
                <a:latin typeface="Consolas"/>
              </a:rPr>
              <a:t>git remote -v   voir le </a:t>
            </a:r>
            <a:r>
              <a:rPr sz="1400" b="0" dirty="0" err="1">
                <a:solidFill>
                  <a:srgbClr val="B45309"/>
                </a:solidFill>
                <a:latin typeface="Consolas"/>
              </a:rPr>
              <a:t>serveur</a:t>
            </a:r>
            <a:endParaRPr sz="1400" b="0" dirty="0">
              <a:solidFill>
                <a:srgbClr val="B45309"/>
              </a:solidFill>
              <a:latin typeface="Consola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" y="5623560"/>
            <a:ext cx="10652760" cy="73152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5779008"/>
            <a:ext cx="101498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 dirty="0">
                <a:solidFill>
                  <a:srgbClr val="16A34A"/>
                </a:solidFill>
                <a:latin typeface="Segoe UI"/>
              </a:rPr>
              <a:t>🥇  </a:t>
            </a:r>
            <a:r>
              <a:rPr sz="1400" b="1" dirty="0" err="1">
                <a:solidFill>
                  <a:srgbClr val="16A34A"/>
                </a:solidFill>
                <a:latin typeface="Segoe UI"/>
              </a:rPr>
              <a:t>Règle</a:t>
            </a:r>
            <a:r>
              <a:rPr sz="1400" b="1" dirty="0">
                <a:solidFill>
                  <a:srgbClr val="16A34A"/>
                </a:solidFill>
                <a:latin typeface="Segoe UI"/>
              </a:rPr>
              <a:t> d'or </a:t>
            </a:r>
            <a:r>
              <a:rPr sz="1400" b="1" dirty="0" err="1">
                <a:solidFill>
                  <a:srgbClr val="16A34A"/>
                </a:solidFill>
                <a:latin typeface="Segoe UI"/>
              </a:rPr>
              <a:t>en</a:t>
            </a:r>
            <a:r>
              <a:rPr sz="1400" b="1" dirty="0">
                <a:solidFill>
                  <a:srgbClr val="16A34A"/>
                </a:solidFill>
                <a:latin typeface="Segoe UI"/>
              </a:rPr>
              <a:t> équipe : git pull</a:t>
            </a:r>
            <a:r>
              <a:rPr lang="en-US" sz="1400" b="1" dirty="0">
                <a:solidFill>
                  <a:srgbClr val="16A34A"/>
                </a:solidFill>
                <a:latin typeface="Segoe UI"/>
              </a:rPr>
              <a:t>/fetch</a:t>
            </a:r>
            <a:r>
              <a:rPr sz="1400" b="1" dirty="0">
                <a:solidFill>
                  <a:srgbClr val="16A34A"/>
                </a:solidFill>
                <a:latin typeface="Segoe UI"/>
              </a:rPr>
              <a:t> AVANT git push (on </a:t>
            </a:r>
            <a:r>
              <a:rPr sz="1400" b="1" dirty="0" err="1">
                <a:solidFill>
                  <a:srgbClr val="16A34A"/>
                </a:solidFill>
                <a:latin typeface="Segoe UI"/>
              </a:rPr>
              <a:t>récupère</a:t>
            </a:r>
            <a:r>
              <a:rPr sz="1400" b="1" dirty="0">
                <a:solidFill>
                  <a:srgbClr val="16A34A"/>
                </a:solidFill>
                <a:latin typeface="Segoe UI"/>
              </a:rPr>
              <a:t> le travail des </a:t>
            </a:r>
            <a:r>
              <a:rPr sz="1400" b="1" dirty="0" err="1">
                <a:solidFill>
                  <a:srgbClr val="16A34A"/>
                </a:solidFill>
                <a:latin typeface="Segoe UI"/>
              </a:rPr>
              <a:t>autres</a:t>
            </a:r>
            <a:r>
              <a:rPr sz="1400" b="1" dirty="0">
                <a:solidFill>
                  <a:srgbClr val="16A34A"/>
                </a:solidFill>
                <a:latin typeface="Segoe UI"/>
              </a:rPr>
              <a:t>, </a:t>
            </a:r>
            <a:r>
              <a:rPr sz="1400" b="1" dirty="0" err="1">
                <a:solidFill>
                  <a:srgbClr val="16A34A"/>
                </a:solidFill>
                <a:latin typeface="Segoe UI"/>
              </a:rPr>
              <a:t>puis</a:t>
            </a:r>
            <a:r>
              <a:rPr sz="1400" b="1" dirty="0">
                <a:solidFill>
                  <a:srgbClr val="16A34A"/>
                </a:solidFill>
                <a:latin typeface="Segoe UI"/>
              </a:rPr>
              <a:t> on </a:t>
            </a:r>
            <a:r>
              <a:rPr sz="1400" b="1" dirty="0" err="1">
                <a:solidFill>
                  <a:srgbClr val="16A34A"/>
                </a:solidFill>
                <a:latin typeface="Segoe UI"/>
              </a:rPr>
              <a:t>envoie</a:t>
            </a:r>
            <a:r>
              <a:rPr sz="1400" b="1" dirty="0">
                <a:solidFill>
                  <a:srgbClr val="16A34A"/>
                </a:solidFill>
                <a:latin typeface="Segoe UI"/>
              </a:rPr>
              <a:t> le </a:t>
            </a:r>
            <a:r>
              <a:rPr sz="1400" b="1" dirty="0" err="1">
                <a:solidFill>
                  <a:srgbClr val="16A34A"/>
                </a:solidFill>
                <a:latin typeface="Segoe UI"/>
              </a:rPr>
              <a:t>sien</a:t>
            </a:r>
            <a:r>
              <a:rPr sz="1400" b="1" dirty="0">
                <a:solidFill>
                  <a:srgbClr val="16A34A"/>
                </a:solidFill>
                <a:latin typeface="Segoe UI"/>
              </a:rPr>
              <a:t>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6446520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Segoe U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118872" cy="7132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Segoe UI"/>
              </a:rPr>
              <a:t>Le vocabulaire des commandes</a:t>
            </a:r>
          </a:p>
          <a:p>
            <a:r>
              <a:rPr sz="1350">
                <a:solidFill>
                  <a:srgbClr val="64748B"/>
                </a:solidFill>
                <a:latin typeface="Segoe UI"/>
              </a:rPr>
              <a:t>Git → en mots simples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9806232"/>
              </p:ext>
            </p:extLst>
          </p:nvPr>
        </p:nvGraphicFramePr>
        <p:xfrm>
          <a:off x="777240" y="1554480"/>
          <a:ext cx="10652760" cy="4572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09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563EB"/>
                          </a:solidFill>
                          <a:latin typeface="Segoe UI"/>
                        </a:rPr>
                        <a:t>Commande</a:t>
                      </a:r>
                    </a:p>
                  </a:txBody>
                  <a:tcPr marL="118872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563EB"/>
                          </a:solidFill>
                          <a:latin typeface="Segoe UI"/>
                        </a:rPr>
                        <a:t>En clair</a:t>
                      </a:r>
                    </a:p>
                  </a:txBody>
                  <a:tcPr marL="118872" marT="27432" marB="27432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563EB"/>
                          </a:solidFill>
                          <a:latin typeface="Consolas"/>
                        </a:rPr>
                        <a:t>git clone</a:t>
                      </a: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1F2937"/>
                          </a:solidFill>
                          <a:latin typeface="Segoe UI"/>
                        </a:rPr>
                        <a:t>copier tout le </a:t>
                      </a:r>
                      <a:r>
                        <a:rPr sz="1300" b="0" dirty="0" err="1">
                          <a:solidFill>
                            <a:srgbClr val="1F2937"/>
                          </a:solidFill>
                          <a:latin typeface="Segoe UI"/>
                        </a:rPr>
                        <a:t>projet</a:t>
                      </a:r>
                      <a:r>
                        <a:rPr sz="1300" b="0" dirty="0">
                          <a:solidFill>
                            <a:srgbClr val="1F2937"/>
                          </a:solidFill>
                          <a:latin typeface="Segoe U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F2937"/>
                          </a:solidFill>
                          <a:latin typeface="Segoe UI"/>
                        </a:rPr>
                        <a:t>depuis</a:t>
                      </a:r>
                      <a:r>
                        <a:rPr sz="1300" b="0" dirty="0">
                          <a:solidFill>
                            <a:srgbClr val="1F2937"/>
                          </a:solidFill>
                          <a:latin typeface="Segoe UI"/>
                        </a:rPr>
                        <a:t> le </a:t>
                      </a:r>
                      <a:r>
                        <a:rPr sz="1300" b="0" dirty="0" err="1">
                          <a:solidFill>
                            <a:srgbClr val="1F2937"/>
                          </a:solidFill>
                          <a:latin typeface="Segoe UI"/>
                        </a:rPr>
                        <a:t>serveur</a:t>
                      </a:r>
                      <a:endParaRPr sz="1300" b="0" dirty="0">
                        <a:solidFill>
                          <a:srgbClr val="1F2937"/>
                        </a:solidFill>
                        <a:latin typeface="Segoe UI"/>
                      </a:endParaRP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563EB"/>
                          </a:solidFill>
                          <a:latin typeface="Consolas"/>
                        </a:rPr>
                        <a:t>git status</a:t>
                      </a: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1F2937"/>
                          </a:solidFill>
                          <a:latin typeface="Segoe UI"/>
                        </a:rPr>
                        <a:t>la </a:t>
                      </a:r>
                      <a:r>
                        <a:rPr sz="1300" b="0" dirty="0" err="1">
                          <a:solidFill>
                            <a:srgbClr val="1F2937"/>
                          </a:solidFill>
                          <a:latin typeface="Segoe UI"/>
                        </a:rPr>
                        <a:t>boussole</a:t>
                      </a:r>
                      <a:r>
                        <a:rPr sz="1300" b="0" dirty="0">
                          <a:solidFill>
                            <a:srgbClr val="1F2937"/>
                          </a:solidFill>
                          <a:latin typeface="Segoe UI"/>
                        </a:rPr>
                        <a:t> : </a:t>
                      </a:r>
                      <a:r>
                        <a:rPr sz="1300" b="0" dirty="0" err="1">
                          <a:solidFill>
                            <a:srgbClr val="1F2937"/>
                          </a:solidFill>
                          <a:latin typeface="Segoe UI"/>
                        </a:rPr>
                        <a:t>où</a:t>
                      </a:r>
                      <a:r>
                        <a:rPr sz="1300" b="0" dirty="0">
                          <a:solidFill>
                            <a:srgbClr val="1F2937"/>
                          </a:solidFill>
                          <a:latin typeface="Segoe U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F2937"/>
                          </a:solidFill>
                          <a:latin typeface="Segoe UI"/>
                        </a:rPr>
                        <a:t>en</a:t>
                      </a:r>
                      <a:r>
                        <a:rPr sz="1300" b="0" dirty="0">
                          <a:solidFill>
                            <a:srgbClr val="1F2937"/>
                          </a:solidFill>
                          <a:latin typeface="Segoe UI"/>
                        </a:rPr>
                        <a:t> est </a:t>
                      </a:r>
                      <a:r>
                        <a:rPr sz="1300" b="0" dirty="0" err="1">
                          <a:solidFill>
                            <a:srgbClr val="1F2937"/>
                          </a:solidFill>
                          <a:latin typeface="Segoe UI"/>
                        </a:rPr>
                        <a:t>chaque</a:t>
                      </a:r>
                      <a:r>
                        <a:rPr sz="1300" b="0" dirty="0">
                          <a:solidFill>
                            <a:srgbClr val="1F2937"/>
                          </a:solidFill>
                          <a:latin typeface="Segoe UI"/>
                        </a:rPr>
                        <a:t> </a:t>
                      </a:r>
                      <a:r>
                        <a:rPr sz="1300" b="0" dirty="0" err="1">
                          <a:solidFill>
                            <a:srgbClr val="1F2937"/>
                          </a:solidFill>
                          <a:latin typeface="Segoe UI"/>
                        </a:rPr>
                        <a:t>fichier</a:t>
                      </a:r>
                      <a:endParaRPr sz="1300" b="0" dirty="0">
                        <a:solidFill>
                          <a:srgbClr val="1F2937"/>
                        </a:solidFill>
                        <a:latin typeface="Segoe UI"/>
                      </a:endParaRP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563EB"/>
                          </a:solidFill>
                          <a:latin typeface="Consolas"/>
                        </a:rPr>
                        <a:t>git add</a:t>
                      </a: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 err="1">
                          <a:solidFill>
                            <a:srgbClr val="1F2937"/>
                          </a:solidFill>
                          <a:latin typeface="Segoe UI"/>
                        </a:rPr>
                        <a:t>préparer</a:t>
                      </a:r>
                      <a:r>
                        <a:rPr sz="1300" b="0" dirty="0">
                          <a:solidFill>
                            <a:srgbClr val="1F2937"/>
                          </a:solidFill>
                          <a:latin typeface="Segoe UI"/>
                        </a:rPr>
                        <a:t> (</a:t>
                      </a:r>
                      <a:r>
                        <a:rPr sz="1300" b="0" dirty="0" err="1">
                          <a:solidFill>
                            <a:srgbClr val="1F2937"/>
                          </a:solidFill>
                          <a:latin typeface="Segoe UI"/>
                        </a:rPr>
                        <a:t>mettre</a:t>
                      </a:r>
                      <a:r>
                        <a:rPr sz="1300" b="0" dirty="0">
                          <a:solidFill>
                            <a:srgbClr val="1F2937"/>
                          </a:solidFill>
                          <a:latin typeface="Segoe UI"/>
                        </a:rPr>
                        <a:t> au panier)</a:t>
                      </a: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563EB"/>
                          </a:solidFill>
                          <a:latin typeface="Consolas"/>
                        </a:rPr>
                        <a:t>git commit</a:t>
                      </a: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sauvegarder = un snapshot / un « save game »</a:t>
                      </a: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563EB"/>
                          </a:solidFill>
                          <a:latin typeface="Consolas"/>
                        </a:rPr>
                        <a:t>git push</a:t>
                      </a: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 err="1">
                          <a:solidFill>
                            <a:srgbClr val="1F2937"/>
                          </a:solidFill>
                          <a:latin typeface="Segoe UI"/>
                        </a:rPr>
                        <a:t>envoyer</a:t>
                      </a:r>
                      <a:r>
                        <a:rPr sz="1300" b="0" dirty="0">
                          <a:solidFill>
                            <a:srgbClr val="1F2937"/>
                          </a:solidFill>
                          <a:latin typeface="Segoe UI"/>
                        </a:rPr>
                        <a:t> (</a:t>
                      </a:r>
                      <a:r>
                        <a:rPr lang="en-US" sz="1300" b="0" dirty="0">
                          <a:solidFill>
                            <a:srgbClr val="1F2937"/>
                          </a:solidFill>
                          <a:latin typeface="Segoe UI"/>
                        </a:rPr>
                        <a:t>upload</a:t>
                      </a:r>
                      <a:r>
                        <a:rPr sz="1300" b="0" dirty="0">
                          <a:solidFill>
                            <a:srgbClr val="1F2937"/>
                          </a:solidFill>
                          <a:latin typeface="Segoe UI"/>
                        </a:rPr>
                        <a:t>) </a:t>
                      </a:r>
                      <a:r>
                        <a:rPr sz="1300" b="0" dirty="0" err="1">
                          <a:solidFill>
                            <a:srgbClr val="1F2937"/>
                          </a:solidFill>
                          <a:latin typeface="Segoe UI"/>
                        </a:rPr>
                        <a:t>tes</a:t>
                      </a:r>
                      <a:r>
                        <a:rPr sz="1300" b="0" dirty="0">
                          <a:solidFill>
                            <a:srgbClr val="1F2937"/>
                          </a:solidFill>
                          <a:latin typeface="Segoe UI"/>
                        </a:rPr>
                        <a:t> commits au </a:t>
                      </a:r>
                      <a:r>
                        <a:rPr sz="1300" b="0" dirty="0" err="1">
                          <a:solidFill>
                            <a:srgbClr val="1F2937"/>
                          </a:solidFill>
                          <a:latin typeface="Segoe UI"/>
                        </a:rPr>
                        <a:t>serveur</a:t>
                      </a:r>
                      <a:endParaRPr sz="1300" b="0" dirty="0">
                        <a:solidFill>
                          <a:srgbClr val="1F2937"/>
                        </a:solidFill>
                        <a:latin typeface="Segoe UI"/>
                      </a:endParaRP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563EB"/>
                          </a:solidFill>
                          <a:latin typeface="Consolas"/>
                        </a:rPr>
                        <a:t>git fetch</a:t>
                      </a: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télécharger les nouveautés, SANS rien changer</a:t>
                      </a: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563EB"/>
                          </a:solidFill>
                          <a:latin typeface="Consolas"/>
                        </a:rPr>
                        <a:t>git pull</a:t>
                      </a: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télécharger + synchroniser (fetch + merge)</a:t>
                      </a: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rgbClr val="2563EB"/>
                          </a:solidFill>
                          <a:latin typeface="Consolas"/>
                        </a:rPr>
                        <a:t>git log</a:t>
                      </a: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 err="1">
                          <a:solidFill>
                            <a:srgbClr val="1F2937"/>
                          </a:solidFill>
                          <a:latin typeface="Segoe UI"/>
                        </a:rPr>
                        <a:t>l'historique</a:t>
                      </a:r>
                      <a:r>
                        <a:rPr sz="1300" b="0" dirty="0">
                          <a:solidFill>
                            <a:srgbClr val="1F2937"/>
                          </a:solidFill>
                          <a:latin typeface="Segoe UI"/>
                        </a:rPr>
                        <a:t> : la </a:t>
                      </a:r>
                      <a:r>
                        <a:rPr sz="1300" b="0" dirty="0" err="1">
                          <a:solidFill>
                            <a:srgbClr val="1F2937"/>
                          </a:solidFill>
                          <a:latin typeface="Segoe UI"/>
                        </a:rPr>
                        <a:t>chronologie</a:t>
                      </a:r>
                      <a:r>
                        <a:rPr sz="1300" b="0" dirty="0">
                          <a:solidFill>
                            <a:srgbClr val="1F2937"/>
                          </a:solidFill>
                          <a:latin typeface="Segoe UI"/>
                        </a:rPr>
                        <a:t> des commits</a:t>
                      </a: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rgbClr val="2563EB"/>
                          </a:solidFill>
                          <a:latin typeface="Consolas"/>
                        </a:rPr>
                        <a:t>git </a:t>
                      </a:r>
                      <a:r>
                        <a:rPr lang="en-US" sz="1300" b="1" dirty="0">
                          <a:solidFill>
                            <a:srgbClr val="2563EB"/>
                          </a:solidFill>
                          <a:latin typeface="Consolas"/>
                        </a:rPr>
                        <a:t>reset</a:t>
                      </a:r>
                      <a:endParaRPr sz="1300" b="1" dirty="0">
                        <a:solidFill>
                          <a:srgbClr val="2563EB"/>
                        </a:solidFill>
                        <a:latin typeface="Consolas"/>
                      </a:endParaRP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0" dirty="0">
                          <a:solidFill>
                            <a:srgbClr val="1F2937"/>
                          </a:solidFill>
                          <a:latin typeface="Segoe UI"/>
                        </a:rPr>
                        <a:t>faire </a:t>
                      </a:r>
                      <a:r>
                        <a:rPr lang="en-US" sz="1300" b="0">
                          <a:solidFill>
                            <a:srgbClr val="1F2937"/>
                          </a:solidFill>
                          <a:latin typeface="Segoe UI"/>
                        </a:rPr>
                        <a:t>téléporter</a:t>
                      </a:r>
                      <a:r>
                        <a:rPr lang="en-US" sz="1300" b="0" dirty="0">
                          <a:solidFill>
                            <a:srgbClr val="1F2937"/>
                          </a:solidFill>
                          <a:latin typeface="Segoe UI"/>
                        </a:rPr>
                        <a:t> la </a:t>
                      </a:r>
                      <a:r>
                        <a:rPr lang="en-US" sz="1300" b="0" dirty="0" err="1">
                          <a:solidFill>
                            <a:srgbClr val="1F2937"/>
                          </a:solidFill>
                          <a:latin typeface="Segoe UI"/>
                        </a:rPr>
                        <a:t>branche</a:t>
                      </a:r>
                      <a:r>
                        <a:rPr lang="en-US" sz="1300" b="0" dirty="0">
                          <a:solidFill>
                            <a:srgbClr val="1F2937"/>
                          </a:solidFill>
                          <a:latin typeface="Segoe UI"/>
                        </a:rPr>
                        <a:t> vers </a:t>
                      </a:r>
                      <a:r>
                        <a:rPr lang="en-US" sz="1300" b="0" dirty="0" err="1">
                          <a:solidFill>
                            <a:srgbClr val="1F2937"/>
                          </a:solidFill>
                          <a:latin typeface="Segoe UI"/>
                        </a:rPr>
                        <a:t>une</a:t>
                      </a:r>
                      <a:r>
                        <a:rPr lang="en-US" sz="1300" b="0" dirty="0">
                          <a:solidFill>
                            <a:srgbClr val="1F2937"/>
                          </a:solidFill>
                          <a:latin typeface="Segoe UI"/>
                        </a:rPr>
                        <a:t> snapshot </a:t>
                      </a:r>
                      <a:r>
                        <a:rPr lang="en-US" sz="1300" b="0" dirty="0" err="1">
                          <a:solidFill>
                            <a:srgbClr val="1F2937"/>
                          </a:solidFill>
                          <a:latin typeface="Segoe UI"/>
                        </a:rPr>
                        <a:t>spécifique</a:t>
                      </a:r>
                      <a:endParaRPr sz="1300" b="0" dirty="0">
                        <a:solidFill>
                          <a:srgbClr val="1F2937"/>
                        </a:solidFill>
                        <a:latin typeface="Segoe UI"/>
                      </a:endParaRP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6355080"/>
            <a:ext cx="106527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1">
                <a:solidFill>
                  <a:srgbClr val="16A34A"/>
                </a:solidFill>
                <a:latin typeface="Segoe UI"/>
              </a:rPr>
              <a:t>▶  Place à la démo : on regarde ces commandes vivre dans le tableau de bord.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46520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Segoe U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118872" cy="7132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Segoe UI"/>
              </a:rPr>
              <a:t>VS Code : Git sans la ligne de commande</a:t>
            </a:r>
          </a:p>
          <a:p>
            <a:r>
              <a:rPr sz="1350">
                <a:solidFill>
                  <a:srgbClr val="64748B"/>
                </a:solidFill>
                <a:latin typeface="Segoe UI"/>
              </a:rPr>
              <a:t>Source Control intégré + l'extension GitLens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783080"/>
            <a:ext cx="5166360" cy="3520440"/>
          </a:xfrm>
          <a:prstGeom prst="roundRect">
            <a:avLst/>
          </a:prstGeom>
          <a:solidFill>
            <a:srgbClr val="F1F5F9"/>
          </a:solidFill>
          <a:ln w="22225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78408" y="1965960"/>
            <a:ext cx="4764024" cy="170046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1" dirty="0">
                <a:solidFill>
                  <a:srgbClr val="2563EB"/>
                </a:solidFill>
                <a:latin typeface="Segoe UI"/>
              </a:rPr>
              <a:t>🧭  Source Control  (</a:t>
            </a:r>
            <a:r>
              <a:rPr sz="1600" b="1" dirty="0" err="1">
                <a:solidFill>
                  <a:srgbClr val="2563EB"/>
                </a:solidFill>
                <a:latin typeface="Segoe UI"/>
              </a:rPr>
              <a:t>intégré</a:t>
            </a:r>
            <a:r>
              <a:rPr sz="1600" b="1" dirty="0">
                <a:solidFill>
                  <a:srgbClr val="2563EB"/>
                </a:solidFill>
                <a:latin typeface="Segoe UI"/>
              </a:rPr>
              <a:t>)</a:t>
            </a:r>
          </a:p>
          <a:p>
            <a:pPr algn="l">
              <a:spcAft>
                <a:spcPts val="1000"/>
              </a:spcAft>
            </a:pPr>
            <a:r>
              <a:rPr sz="1400" b="0" dirty="0">
                <a:solidFill>
                  <a:srgbClr val="1F2937"/>
                </a:solidFill>
                <a:latin typeface="Segoe UI"/>
              </a:rPr>
              <a:t>• </a:t>
            </a:r>
            <a:r>
              <a:rPr sz="1400" b="0" dirty="0" err="1">
                <a:solidFill>
                  <a:srgbClr val="1F2937"/>
                </a:solidFill>
                <a:latin typeface="Segoe UI"/>
              </a:rPr>
              <a:t>Panneau</a:t>
            </a:r>
            <a:r>
              <a:rPr sz="1400" b="0" dirty="0">
                <a:solidFill>
                  <a:srgbClr val="1F2937"/>
                </a:solidFill>
                <a:latin typeface="Segoe UI"/>
              </a:rPr>
              <a:t> Git </a:t>
            </a:r>
            <a:r>
              <a:rPr sz="1400" b="0" dirty="0" err="1">
                <a:solidFill>
                  <a:srgbClr val="1F2937"/>
                </a:solidFill>
                <a:latin typeface="Segoe UI"/>
              </a:rPr>
              <a:t>intégré</a:t>
            </a:r>
            <a:r>
              <a:rPr sz="1400" b="0" dirty="0">
                <a:solidFill>
                  <a:srgbClr val="1F2937"/>
                </a:solidFill>
                <a:latin typeface="Segoe UI"/>
              </a:rPr>
              <a:t> (</a:t>
            </a:r>
            <a:r>
              <a:rPr sz="1400" b="0" dirty="0" err="1">
                <a:solidFill>
                  <a:srgbClr val="1F2937"/>
                </a:solidFill>
                <a:latin typeface="Segoe UI"/>
              </a:rPr>
              <a:t>Ctrl+Maj+G</a:t>
            </a:r>
            <a:r>
              <a:rPr sz="1400" b="0" dirty="0">
                <a:solidFill>
                  <a:srgbClr val="1F2937"/>
                </a:solidFill>
                <a:latin typeface="Segoe UI"/>
              </a:rPr>
              <a:t>)</a:t>
            </a:r>
          </a:p>
          <a:p>
            <a:pPr algn="l">
              <a:spcAft>
                <a:spcPts val="1000"/>
              </a:spcAft>
            </a:pPr>
            <a:r>
              <a:rPr sz="1400" b="0" dirty="0">
                <a:solidFill>
                  <a:srgbClr val="1F2937"/>
                </a:solidFill>
                <a:latin typeface="Segoe UI"/>
              </a:rPr>
              <a:t>• voir / </a:t>
            </a:r>
            <a:r>
              <a:rPr sz="1400" b="0" dirty="0" err="1">
                <a:solidFill>
                  <a:srgbClr val="1F2937"/>
                </a:solidFill>
                <a:latin typeface="Segoe UI"/>
              </a:rPr>
              <a:t>préparer</a:t>
            </a:r>
            <a:r>
              <a:rPr sz="1400" b="0" dirty="0">
                <a:solidFill>
                  <a:srgbClr val="1F2937"/>
                </a:solidFill>
                <a:latin typeface="Segoe UI"/>
              </a:rPr>
              <a:t> / committer </a:t>
            </a:r>
            <a:r>
              <a:rPr sz="1400" b="0" dirty="0" err="1">
                <a:solidFill>
                  <a:srgbClr val="1F2937"/>
                </a:solidFill>
                <a:latin typeface="Segoe UI"/>
              </a:rPr>
              <a:t>en</a:t>
            </a:r>
            <a:r>
              <a:rPr sz="1400" b="0" dirty="0">
                <a:solidFill>
                  <a:srgbClr val="1F2937"/>
                </a:solidFill>
                <a:latin typeface="Segoe UI"/>
              </a:rPr>
              <a:t> un </a:t>
            </a:r>
            <a:r>
              <a:rPr sz="1400" b="0" dirty="0" err="1">
                <a:solidFill>
                  <a:srgbClr val="1F2937"/>
                </a:solidFill>
                <a:latin typeface="Segoe UI"/>
              </a:rPr>
              <a:t>clic</a:t>
            </a:r>
            <a:endParaRPr sz="1400" b="0" dirty="0">
              <a:solidFill>
                <a:srgbClr val="1F2937"/>
              </a:solidFill>
              <a:latin typeface="Segoe UI"/>
            </a:endParaRPr>
          </a:p>
          <a:p>
            <a:pPr algn="l">
              <a:spcAft>
                <a:spcPts val="1000"/>
              </a:spcAft>
            </a:pPr>
            <a:r>
              <a:rPr sz="1400" b="0" dirty="0">
                <a:solidFill>
                  <a:srgbClr val="1F2937"/>
                </a:solidFill>
                <a:latin typeface="Segoe UI"/>
              </a:rPr>
              <a:t>• </a:t>
            </a:r>
            <a:r>
              <a:rPr sz="1400" b="0" dirty="0" err="1">
                <a:solidFill>
                  <a:srgbClr val="1F2937"/>
                </a:solidFill>
                <a:latin typeface="Segoe UI"/>
              </a:rPr>
              <a:t>éditeur</a:t>
            </a:r>
            <a:r>
              <a:rPr sz="1400" b="0" dirty="0">
                <a:solidFill>
                  <a:srgbClr val="1F2937"/>
                </a:solidFill>
                <a:latin typeface="Segoe UI"/>
              </a:rPr>
              <a:t> de fusion</a:t>
            </a:r>
            <a:r>
              <a:rPr lang="en-US" sz="1400" b="0" dirty="0">
                <a:solidFill>
                  <a:srgbClr val="1F2937"/>
                </a:solidFill>
                <a:latin typeface="Segoe UI"/>
              </a:rPr>
              <a:t> (merge)</a:t>
            </a:r>
            <a:r>
              <a:rPr sz="1400" b="0" dirty="0">
                <a:solidFill>
                  <a:srgbClr val="1F2937"/>
                </a:solidFill>
                <a:latin typeface="Segoe UI"/>
              </a:rPr>
              <a:t> à 3 volets (</a:t>
            </a:r>
            <a:r>
              <a:rPr sz="1400" b="0" dirty="0" err="1">
                <a:solidFill>
                  <a:srgbClr val="1F2937"/>
                </a:solidFill>
                <a:latin typeface="Segoe UI"/>
              </a:rPr>
              <a:t>conflits</a:t>
            </a:r>
            <a:r>
              <a:rPr sz="1400" b="0" dirty="0">
                <a:solidFill>
                  <a:srgbClr val="1F2937"/>
                </a:solidFill>
                <a:latin typeface="Segoe UI"/>
              </a:rPr>
              <a:t>)</a:t>
            </a:r>
          </a:p>
          <a:p>
            <a:pPr algn="l">
              <a:spcAft>
                <a:spcPts val="700"/>
              </a:spcAft>
            </a:pPr>
            <a:r>
              <a:rPr sz="1400" b="0" dirty="0">
                <a:solidFill>
                  <a:srgbClr val="1F2937"/>
                </a:solidFill>
                <a:latin typeface="Segoe UI"/>
              </a:rPr>
              <a:t>• push · pull · changer de </a:t>
            </a:r>
            <a:r>
              <a:rPr sz="1400" b="0" dirty="0" err="1">
                <a:solidFill>
                  <a:srgbClr val="1F2937"/>
                </a:solidFill>
                <a:latin typeface="Segoe UI"/>
              </a:rPr>
              <a:t>branche</a:t>
            </a:r>
            <a:r>
              <a:rPr sz="1400" b="0" dirty="0">
                <a:solidFill>
                  <a:srgbClr val="1F2937"/>
                </a:solidFill>
                <a:latin typeface="Segoe UI"/>
              </a:rPr>
              <a:t> (barre du bas)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783080"/>
            <a:ext cx="5166360" cy="3520440"/>
          </a:xfrm>
          <a:prstGeom prst="roundRect">
            <a:avLst/>
          </a:prstGeom>
          <a:solidFill>
            <a:srgbClr val="F1F5F9"/>
          </a:solidFill>
          <a:ln w="22225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64807" y="1965960"/>
            <a:ext cx="4764024" cy="3154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600" b="1">
                <a:solidFill>
                  <a:srgbClr val="7C3AED"/>
                </a:solidFill>
                <a:latin typeface="Segoe UI"/>
              </a:rPr>
              <a:t>🔮  GitLens  (extension)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Blame en ligne : qui · quand · pourquoi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survol d'une ligne → le commit complet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Commit Graph interactif des branches</a:t>
            </a:r>
          </a:p>
          <a:p>
            <a:pPr algn="l">
              <a:spcAft>
                <a:spcPts val="700"/>
              </a:spcAft>
            </a:pPr>
            <a:r>
              <a:rPr sz="1400" b="0">
                <a:solidFill>
                  <a:srgbClr val="1F2937"/>
                </a:solidFill>
                <a:latin typeface="Segoe UI"/>
              </a:rPr>
              <a:t>• File History · comparaison de branches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577840"/>
            <a:ext cx="10652760" cy="749808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5733288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16A34A"/>
                </a:solidFill>
                <a:latin typeface="Segoe UI"/>
              </a:rPr>
              <a:t>Pour débuter, voir = comprendre : </a:t>
            </a:r>
            <a:r>
              <a:rPr sz="1400" b="0">
                <a:solidFill>
                  <a:srgbClr val="1F2937"/>
                </a:solidFill>
                <a:latin typeface="Segoe UI"/>
              </a:rPr>
              <a:t>GitLens met des noms, des dates et des couleurs sur tout l'historique.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6446520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Segoe U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118872" cy="71323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Segoe UI"/>
              </a:rPr>
              <a:t>Git fait plus que versionner</a:t>
            </a:r>
          </a:p>
          <a:p>
            <a:r>
              <a:rPr sz="1350">
                <a:solidFill>
                  <a:srgbClr val="64748B"/>
                </a:solidFill>
                <a:latin typeface="Segoe UI"/>
              </a:rPr>
              <a:t>Les hooks : automatiser à chaque action git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54480"/>
            <a:ext cx="10652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600" b="1">
                <a:solidFill>
                  <a:srgbClr val="1F2937"/>
                </a:solidFill>
                <a:latin typeface="Segoe UI"/>
              </a:rPr>
              <a:t>Un hook = un script que Git lance AUTOMATIQUEMENT à un moment clé (avant/après une action git).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331720"/>
          <a:ext cx="10652760" cy="3017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66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3504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563EB"/>
                          </a:solidFill>
                          <a:latin typeface="Segoe UI"/>
                        </a:rPr>
                        <a:t>Hook</a:t>
                      </a:r>
                    </a:p>
                  </a:txBody>
                  <a:tcPr marL="118872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563EB"/>
                          </a:solidFill>
                          <a:latin typeface="Segoe UI"/>
                        </a:rPr>
                        <a:t>Se déclenche…</a:t>
                      </a:r>
                    </a:p>
                  </a:txBody>
                  <a:tcPr marL="118872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2563EB"/>
                          </a:solidFill>
                          <a:latin typeface="Segoe UI"/>
                        </a:rPr>
                        <a:t>Exemple d'usage</a:t>
                      </a:r>
                    </a:p>
                  </a:txBody>
                  <a:tcPr marL="118872" marT="27432" marB="27432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C3AED"/>
                          </a:solidFill>
                          <a:latin typeface="Consolas"/>
                        </a:rPr>
                        <a:t>pre-commit</a:t>
                      </a: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avant de figer un commit</a:t>
                      </a: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formater le code · bloquer un secret · linter</a:t>
                      </a: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C3AED"/>
                          </a:solidFill>
                          <a:latin typeface="Consolas"/>
                        </a:rPr>
                        <a:t>commit-msg</a:t>
                      </a: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à l'écriture du message</a:t>
                      </a: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imposer un format de message</a:t>
                      </a: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C3AED"/>
                          </a:solidFill>
                          <a:latin typeface="Consolas"/>
                        </a:rPr>
                        <a:t>pre-push</a:t>
                      </a: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avant d'envoyer au serveur</a:t>
                      </a: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lancer les tests, refuser si échec</a:t>
                      </a: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3504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7C3AED"/>
                          </a:solidFill>
                          <a:latin typeface="Consolas"/>
                        </a:rPr>
                        <a:t>post-merge</a:t>
                      </a: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après un merge / pull</a:t>
                      </a: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1F2937"/>
                          </a:solidFill>
                          <a:latin typeface="Segoe UI"/>
                        </a:rPr>
                        <a:t>réinstaller les dépendances</a:t>
                      </a: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77240" y="5623560"/>
            <a:ext cx="10652760" cy="7772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05840" y="5760720"/>
            <a:ext cx="10149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350" b="1" dirty="0">
                <a:solidFill>
                  <a:srgbClr val="2563EB"/>
                </a:solidFill>
                <a:latin typeface="Segoe UI"/>
              </a:rPr>
              <a:t>Au-</a:t>
            </a:r>
            <a:r>
              <a:rPr sz="1350" b="1" dirty="0" err="1">
                <a:solidFill>
                  <a:srgbClr val="2563EB"/>
                </a:solidFill>
                <a:latin typeface="Segoe UI"/>
              </a:rPr>
              <a:t>delà</a:t>
            </a:r>
            <a:r>
              <a:rPr sz="1350" b="1" dirty="0">
                <a:solidFill>
                  <a:srgbClr val="2563EB"/>
                </a:solidFill>
                <a:latin typeface="Segoe UI"/>
              </a:rPr>
              <a:t> des hooks : </a:t>
            </a:r>
            <a:r>
              <a:rPr sz="1350" b="0" dirty="0">
                <a:solidFill>
                  <a:srgbClr val="1F2937"/>
                </a:solidFill>
                <a:latin typeface="Segoe UI"/>
              </a:rPr>
              <a:t>Git est la </a:t>
            </a:r>
            <a:r>
              <a:rPr sz="1350" b="0" dirty="0" err="1">
                <a:solidFill>
                  <a:srgbClr val="1F2937"/>
                </a:solidFill>
                <a:latin typeface="Segoe UI"/>
              </a:rPr>
              <a:t>fondation</a:t>
            </a:r>
            <a:r>
              <a:rPr sz="1350" b="0" dirty="0">
                <a:solidFill>
                  <a:srgbClr val="1F2937"/>
                </a:solidFill>
                <a:latin typeface="Segoe UI"/>
              </a:rPr>
              <a:t> de la CI/CD, des revues de code et des releases — un simple commit </a:t>
            </a:r>
            <a:r>
              <a:rPr sz="1350" b="0" dirty="0" err="1">
                <a:solidFill>
                  <a:srgbClr val="1F2937"/>
                </a:solidFill>
                <a:latin typeface="Segoe UI"/>
              </a:rPr>
              <a:t>peut</a:t>
            </a:r>
            <a:r>
              <a:rPr sz="1350" b="0" dirty="0">
                <a:solidFill>
                  <a:srgbClr val="1F2937"/>
                </a:solidFill>
                <a:latin typeface="Segoe UI"/>
              </a:rPr>
              <a:t> </a:t>
            </a:r>
            <a:r>
              <a:rPr sz="1350" b="0" dirty="0" err="1">
                <a:solidFill>
                  <a:srgbClr val="1F2937"/>
                </a:solidFill>
                <a:latin typeface="Segoe UI"/>
              </a:rPr>
              <a:t>déclencher</a:t>
            </a:r>
            <a:r>
              <a:rPr sz="1350" b="0" dirty="0">
                <a:solidFill>
                  <a:srgbClr val="1F2937"/>
                </a:solidFill>
                <a:latin typeface="Segoe UI"/>
              </a:rPr>
              <a:t> tout un pipeline.  (</a:t>
            </a:r>
            <a:r>
              <a:rPr sz="1350" b="0" dirty="0" err="1">
                <a:solidFill>
                  <a:srgbClr val="1F2937"/>
                </a:solidFill>
                <a:latin typeface="Segoe UI"/>
              </a:rPr>
              <a:t>Outils</a:t>
            </a:r>
            <a:r>
              <a:rPr sz="1350" b="0" dirty="0">
                <a:solidFill>
                  <a:srgbClr val="1F2937"/>
                </a:solidFill>
                <a:latin typeface="Segoe UI"/>
              </a:rPr>
              <a:t> : pre-commit, Husky.)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446520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Segoe U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457200"/>
            <a:ext cx="118872" cy="713232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347472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2937"/>
                </a:solidFill>
                <a:latin typeface="Segoe UI"/>
              </a:rPr>
              <a:t>Les alias Git : gagner du temps</a:t>
            </a:r>
          </a:p>
          <a:p>
            <a:r>
              <a:rPr sz="1350">
                <a:solidFill>
                  <a:srgbClr val="64748B"/>
                </a:solidFill>
                <a:latin typeface="Segoe UI"/>
              </a:rPr>
              <a:t>Des raccourcis pour les commandes qu'on tape 100 fois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508760"/>
            <a:ext cx="10652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550" b="1">
                <a:solidFill>
                  <a:srgbClr val="1F2937"/>
                </a:solidFill>
                <a:latin typeface="Segoe UI"/>
              </a:rPr>
              <a:t>Un alias = un raccourci. On le définit une seule fois (--global) et il est valable partout.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2240280"/>
          <a:ext cx="6126479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563EB"/>
                          </a:solidFill>
                          <a:latin typeface="Segoe UI"/>
                        </a:rPr>
                        <a:t>Alias</a:t>
                      </a:r>
                    </a:p>
                  </a:txBody>
                  <a:tcPr marL="118872" marT="27432" marB="27432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2563EB"/>
                          </a:solidFill>
                          <a:latin typeface="Segoe UI"/>
                        </a:rPr>
                        <a:t>Commande complète</a:t>
                      </a:r>
                    </a:p>
                  </a:txBody>
                  <a:tcPr marL="118872" marT="27432" marB="27432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Consolas"/>
                        </a:rPr>
                        <a:t>git st</a:t>
                      </a: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Consolas"/>
                        </a:rPr>
                        <a:t>git status</a:t>
                      </a: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Consolas"/>
                        </a:rPr>
                        <a:t>git co</a:t>
                      </a: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Consolas"/>
                        </a:rPr>
                        <a:t>git checkout</a:t>
                      </a: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Consolas"/>
                        </a:rPr>
                        <a:t>git br</a:t>
                      </a: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Consolas"/>
                        </a:rPr>
                        <a:t>git branch</a:t>
                      </a: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Consolas"/>
                        </a:rPr>
                        <a:t>git ci</a:t>
                      </a: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Consolas"/>
                        </a:rPr>
                        <a:t>git commit</a:t>
                      </a: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Consolas"/>
                        </a:rPr>
                        <a:t>git lg</a:t>
                      </a: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Consolas"/>
                        </a:rPr>
                        <a:t>log --oneline --graph --all</a:t>
                      </a: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Consolas"/>
                        </a:rPr>
                        <a:t>git last</a:t>
                      </a: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Consolas"/>
                        </a:rPr>
                        <a:t>log -1 HEAD</a:t>
                      </a: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sz="1250" b="1">
                          <a:solidFill>
                            <a:srgbClr val="2563EB"/>
                          </a:solidFill>
                          <a:latin typeface="Consolas"/>
                        </a:rPr>
                        <a:t>git unstage</a:t>
                      </a: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50" b="0">
                          <a:solidFill>
                            <a:srgbClr val="1F2937"/>
                          </a:solidFill>
                          <a:latin typeface="Consolas"/>
                        </a:rPr>
                        <a:t>restore --staged &lt;fichier&gt;</a:t>
                      </a:r>
                    </a:p>
                  </a:txBody>
                  <a:tcPr marL="118872" marT="27432" marB="2743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178040" y="2240280"/>
            <a:ext cx="4251960" cy="3291840"/>
          </a:xfrm>
          <a:prstGeom prst="roundRect">
            <a:avLst/>
          </a:prstGeom>
          <a:solidFill>
            <a:srgbClr val="F1F5F9"/>
          </a:solidFill>
          <a:ln w="22225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79208" y="2423160"/>
            <a:ext cx="3849624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>
                <a:solidFill>
                  <a:srgbClr val="16A34A"/>
                </a:solidFill>
                <a:latin typeface="Segoe UI"/>
              </a:rPr>
              <a:t>Comment les créer (une fois)</a:t>
            </a:r>
          </a:p>
          <a:p>
            <a:pPr algn="l">
              <a:spcAft>
                <a:spcPts val="900"/>
              </a:spcAft>
            </a:pPr>
            <a:r>
              <a:rPr sz="1150" b="0">
                <a:solidFill>
                  <a:srgbClr val="1F2937"/>
                </a:solidFill>
                <a:latin typeface="Consolas"/>
              </a:rPr>
              <a:t>git config --global alias.st status</a:t>
            </a:r>
          </a:p>
          <a:p>
            <a:pPr algn="l">
              <a:spcAft>
                <a:spcPts val="900"/>
              </a:spcAft>
            </a:pPr>
            <a:r>
              <a:rPr sz="1150" b="0">
                <a:solidFill>
                  <a:srgbClr val="1F2937"/>
                </a:solidFill>
                <a:latin typeface="Consolas"/>
              </a:rPr>
              <a:t>git config --global alias.ci commit</a:t>
            </a:r>
          </a:p>
          <a:p>
            <a:pPr algn="l">
              <a:spcAft>
                <a:spcPts val="1200"/>
              </a:spcAft>
            </a:pPr>
            <a:r>
              <a:rPr sz="1150" b="0">
                <a:solidFill>
                  <a:srgbClr val="1F2937"/>
                </a:solidFill>
                <a:latin typeface="Consolas"/>
              </a:rPr>
              <a:t>git config --global alias.lg "log --oneline --graph --all"</a:t>
            </a:r>
          </a:p>
          <a:p>
            <a:pPr algn="l">
              <a:spcAft>
                <a:spcPts val="700"/>
              </a:spcAft>
            </a:pPr>
            <a:r>
              <a:rPr sz="1250" b="1">
                <a:solidFill>
                  <a:srgbClr val="16A34A"/>
                </a:solidFill>
                <a:latin typeface="Segoe UI"/>
              </a:rPr>
              <a:t>→ --global : valable dans tous tes projets.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5715000"/>
            <a:ext cx="10652760" cy="713232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05840" y="5861304"/>
            <a:ext cx="10149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00" b="1">
                <a:solidFill>
                  <a:srgbClr val="2563EB"/>
                </a:solidFill>
                <a:latin typeface="Segoe UI"/>
              </a:rPr>
              <a:t>Astuce : </a:t>
            </a:r>
            <a:r>
              <a:rPr sz="1400" b="0">
                <a:solidFill>
                  <a:srgbClr val="1F2937"/>
                </a:solidFill>
                <a:latin typeface="Segoe UI"/>
              </a:rPr>
              <a:t>git lg devient ton réflexe pour voir « où j'en suis » — le graphe de toutes les branches, d'un coup.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61320" y="6446520"/>
            <a:ext cx="1508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64748B"/>
                </a:solidFill>
                <a:latin typeface="Segoe U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1563</Words>
  <Application>Microsoft Office PowerPoint</Application>
  <PresentationFormat>Widescreen</PresentationFormat>
  <Paragraphs>202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Consolas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Oussama BOUDJENIBA</cp:lastModifiedBy>
  <cp:revision>8</cp:revision>
  <dcterms:created xsi:type="dcterms:W3CDTF">2013-01-27T09:14:16Z</dcterms:created>
  <dcterms:modified xsi:type="dcterms:W3CDTF">2026-06-30T05:38:29Z</dcterms:modified>
  <cp:category/>
</cp:coreProperties>
</file>